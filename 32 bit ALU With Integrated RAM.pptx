
<file path=[Content_Types].xml><?xml version="1.0" encoding="utf-8"?>
<Types xmlns="http://schemas.openxmlformats.org/package/2006/content-types">
  <Default Extension="jpeg" ContentType="image/jpeg"/>
  <Default Extension="jpg" ContentType="image/jpeg"/>
  <Default Extension="png" ContentType="image/png"/>
  <Default Extension="ppm"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3" r:id="rId17"/>
    <p:sldId id="275"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rishma sakhamuri" userId="856c6342ecc6c4fa" providerId="LiveId" clId="{21160BFB-D580-4361-BF3E-9A1DA93CF6A0}"/>
    <pc:docChg chg="delSld modSld">
      <pc:chgData name="charishma sakhamuri" userId="856c6342ecc6c4fa" providerId="LiveId" clId="{21160BFB-D580-4361-BF3E-9A1DA93CF6A0}" dt="2026-01-29T12:52:52.032" v="3" actId="47"/>
      <pc:docMkLst>
        <pc:docMk/>
      </pc:docMkLst>
      <pc:sldChg chg="del">
        <pc:chgData name="charishma sakhamuri" userId="856c6342ecc6c4fa" providerId="LiveId" clId="{21160BFB-D580-4361-BF3E-9A1DA93CF6A0}" dt="2026-01-29T12:52:28.003" v="0" actId="47"/>
        <pc:sldMkLst>
          <pc:docMk/>
          <pc:sldMk cId="4118858589" sldId="257"/>
        </pc:sldMkLst>
      </pc:sldChg>
      <pc:sldChg chg="modSp del mod">
        <pc:chgData name="charishma sakhamuri" userId="856c6342ecc6c4fa" providerId="LiveId" clId="{21160BFB-D580-4361-BF3E-9A1DA93CF6A0}" dt="2026-01-29T12:52:52.032" v="3" actId="47"/>
        <pc:sldMkLst>
          <pc:docMk/>
          <pc:sldMk cId="3818472486" sldId="272"/>
        </pc:sldMkLst>
        <pc:spChg chg="mod">
          <ac:chgData name="charishma sakhamuri" userId="856c6342ecc6c4fa" providerId="LiveId" clId="{21160BFB-D580-4361-BF3E-9A1DA93CF6A0}" dt="2026-01-29T12:52:48.254" v="2" actId="1076"/>
          <ac:spMkLst>
            <pc:docMk/>
            <pc:sldMk cId="3818472486" sldId="272"/>
            <ac:spMk id="4" creationId="{B1DA8DB0-9CAE-C94C-9E8D-324A695421AD}"/>
          </ac:spMkLst>
        </pc:spChg>
      </pc:sldChg>
      <pc:sldChg chg="del">
        <pc:chgData name="charishma sakhamuri" userId="856c6342ecc6c4fa" providerId="LiveId" clId="{21160BFB-D580-4361-BF3E-9A1DA93CF6A0}" dt="2026-01-29T12:52:36.065" v="1" actId="47"/>
        <pc:sldMkLst>
          <pc:docMk/>
          <pc:sldMk cId="3587180343" sldId="274"/>
        </pc:sldMkLst>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18F1B540-6534-4F09-BEF2-9AAA900F32B9}" type="datetimeFigureOut">
              <a:rPr lang="en-IN" smtClean="0"/>
              <a:t>29-01-2026</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A9A837F5-AD1D-439A-BEA8-5561EAF52589}"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74813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F1B540-6534-4F09-BEF2-9AAA900F32B9}" type="datetimeFigureOut">
              <a:rPr lang="en-IN" smtClean="0"/>
              <a:t>29-01-2026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A837F5-AD1D-439A-BEA8-5561EAF52589}" type="slidenum">
              <a:rPr lang="en-IN" smtClean="0"/>
              <a:t>‹#›</a:t>
            </a:fld>
            <a:endParaRPr lang="en-IN"/>
          </a:p>
        </p:txBody>
      </p:sp>
    </p:spTree>
    <p:extLst>
      <p:ext uri="{BB962C8B-B14F-4D97-AF65-F5344CB8AC3E}">
        <p14:creationId xmlns:p14="http://schemas.microsoft.com/office/powerpoint/2010/main" val="624750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F1B540-6534-4F09-BEF2-9AAA900F32B9}" type="datetimeFigureOut">
              <a:rPr lang="en-IN" smtClean="0"/>
              <a:t>29-01-2026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A837F5-AD1D-439A-BEA8-5561EAF52589}"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01884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F1B540-6534-4F09-BEF2-9AAA900F32B9}" type="datetimeFigureOut">
              <a:rPr lang="en-IN" smtClean="0"/>
              <a:t>29-01-2026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A837F5-AD1D-439A-BEA8-5561EAF52589}" type="slidenum">
              <a:rPr lang="en-IN" smtClean="0"/>
              <a:t>‹#›</a:t>
            </a:fld>
            <a:endParaRPr lang="en-IN"/>
          </a:p>
        </p:txBody>
      </p:sp>
    </p:spTree>
    <p:extLst>
      <p:ext uri="{BB962C8B-B14F-4D97-AF65-F5344CB8AC3E}">
        <p14:creationId xmlns:p14="http://schemas.microsoft.com/office/powerpoint/2010/main" val="2946327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F1B540-6534-4F09-BEF2-9AAA900F32B9}" type="datetimeFigureOut">
              <a:rPr lang="en-IN" smtClean="0"/>
              <a:t>29-01-2026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9A837F5-AD1D-439A-BEA8-5561EAF52589}"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891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8F1B540-6534-4F09-BEF2-9AAA900F32B9}" type="datetimeFigureOut">
              <a:rPr lang="en-IN" smtClean="0"/>
              <a:t>29-01-2026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9A837F5-AD1D-439A-BEA8-5561EAF52589}"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72179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F1B540-6534-4F09-BEF2-9AAA900F32B9}" type="datetimeFigureOut">
              <a:rPr lang="en-IN" smtClean="0"/>
              <a:t>29-01-2026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9A837F5-AD1D-439A-BEA8-5561EAF52589}" type="slidenum">
              <a:rPr lang="en-IN" smtClean="0"/>
              <a:t>‹#›</a:t>
            </a:fld>
            <a:endParaRPr lang="en-IN"/>
          </a:p>
        </p:txBody>
      </p:sp>
    </p:spTree>
    <p:extLst>
      <p:ext uri="{BB962C8B-B14F-4D97-AF65-F5344CB8AC3E}">
        <p14:creationId xmlns:p14="http://schemas.microsoft.com/office/powerpoint/2010/main" val="190597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F1B540-6534-4F09-BEF2-9AAA900F32B9}" type="datetimeFigureOut">
              <a:rPr lang="en-IN" smtClean="0"/>
              <a:t>29-01-2026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A837F5-AD1D-439A-BEA8-5561EAF52589}"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52345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F1B540-6534-4F09-BEF2-9AAA900F32B9}" type="datetimeFigureOut">
              <a:rPr lang="en-IN" smtClean="0"/>
              <a:t>29-01-2026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A837F5-AD1D-439A-BEA8-5561EAF52589}" type="slidenum">
              <a:rPr lang="en-IN" smtClean="0"/>
              <a:t>‹#›</a:t>
            </a:fld>
            <a:endParaRPr lang="en-IN"/>
          </a:p>
        </p:txBody>
      </p:sp>
    </p:spTree>
    <p:extLst>
      <p:ext uri="{BB962C8B-B14F-4D97-AF65-F5344CB8AC3E}">
        <p14:creationId xmlns:p14="http://schemas.microsoft.com/office/powerpoint/2010/main" val="2532547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F1B540-6534-4F09-BEF2-9AAA900F32B9}" type="datetimeFigureOut">
              <a:rPr lang="en-IN" smtClean="0"/>
              <a:t>29-01-2026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A837F5-AD1D-439A-BEA8-5561EAF52589}" type="slidenum">
              <a:rPr lang="en-IN" smtClean="0"/>
              <a:t>‹#›</a:t>
            </a:fld>
            <a:endParaRPr lang="en-IN"/>
          </a:p>
        </p:txBody>
      </p:sp>
    </p:spTree>
    <p:extLst>
      <p:ext uri="{BB962C8B-B14F-4D97-AF65-F5344CB8AC3E}">
        <p14:creationId xmlns:p14="http://schemas.microsoft.com/office/powerpoint/2010/main" val="1669208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F1B540-6534-4F09-BEF2-9AAA900F32B9}" type="datetimeFigureOut">
              <a:rPr lang="en-IN" smtClean="0"/>
              <a:t>29-01-2026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A837F5-AD1D-439A-BEA8-5561EAF52589}"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613577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F1B540-6534-4F09-BEF2-9AAA900F32B9}" type="datetimeFigureOut">
              <a:rPr lang="en-IN" smtClean="0"/>
              <a:t>29-01-2026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A837F5-AD1D-439A-BEA8-5561EAF52589}"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534564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F1B540-6534-4F09-BEF2-9AAA900F32B9}" type="datetimeFigureOut">
              <a:rPr lang="en-IN" smtClean="0"/>
              <a:t>29-01-2026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A837F5-AD1D-439A-BEA8-5561EAF52589}" type="slidenum">
              <a:rPr lang="en-IN" smtClean="0"/>
              <a:t>‹#›</a:t>
            </a:fld>
            <a:endParaRPr lang="en-IN"/>
          </a:p>
        </p:txBody>
      </p:sp>
    </p:spTree>
    <p:extLst>
      <p:ext uri="{BB962C8B-B14F-4D97-AF65-F5344CB8AC3E}">
        <p14:creationId xmlns:p14="http://schemas.microsoft.com/office/powerpoint/2010/main" val="41422849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F1B540-6534-4F09-BEF2-9AAA900F32B9}" type="datetimeFigureOut">
              <a:rPr lang="en-IN" smtClean="0"/>
              <a:t>29-01-2026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A837F5-AD1D-439A-BEA8-5561EAF52589}"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766865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F1B540-6534-4F09-BEF2-9AAA900F32B9}" type="datetimeFigureOut">
              <a:rPr lang="en-IN" smtClean="0"/>
              <a:t>29-01-2026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A837F5-AD1D-439A-BEA8-5561EAF52589}"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40841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F1B540-6534-4F09-BEF2-9AAA900F32B9}" type="datetimeFigureOut">
              <a:rPr lang="en-IN" smtClean="0"/>
              <a:t>29-01-2026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A837F5-AD1D-439A-BEA8-5561EAF52589}"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023006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F1B540-6534-4F09-BEF2-9AAA900F32B9}" type="datetimeFigureOut">
              <a:rPr lang="en-IN" smtClean="0"/>
              <a:t>29-01-2026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A837F5-AD1D-439A-BEA8-5561EAF52589}"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69172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8F1B540-6534-4F09-BEF2-9AAA900F32B9}" type="datetimeFigureOut">
              <a:rPr lang="en-IN" smtClean="0"/>
              <a:t>29-01-2026</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9A837F5-AD1D-439A-BEA8-5561EAF52589}" type="slidenum">
              <a:rPr lang="en-IN" smtClean="0"/>
              <a:t>‹#›</a:t>
            </a:fld>
            <a:endParaRPr lang="en-IN"/>
          </a:p>
        </p:txBody>
      </p:sp>
    </p:spTree>
    <p:extLst>
      <p:ext uri="{BB962C8B-B14F-4D97-AF65-F5344CB8AC3E}">
        <p14:creationId xmlns:p14="http://schemas.microsoft.com/office/powerpoint/2010/main" val="238640713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pm"/><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2973C-88AD-CA0F-B6F5-A4D1C85F4C3A}"/>
              </a:ext>
            </a:extLst>
          </p:cNvPr>
          <p:cNvSpPr>
            <a:spLocks noGrp="1"/>
          </p:cNvSpPr>
          <p:nvPr>
            <p:ph type="ctrTitle"/>
          </p:nvPr>
        </p:nvSpPr>
        <p:spPr>
          <a:xfrm>
            <a:off x="2692398" y="1871130"/>
            <a:ext cx="6815669" cy="2421469"/>
          </a:xfrm>
        </p:spPr>
        <p:txBody>
          <a:bodyPr/>
          <a:lstStyle/>
          <a:p>
            <a:r>
              <a:rPr lang="en-IN" dirty="0"/>
              <a:t>32 bit ALU With Integrated RAM</a:t>
            </a:r>
          </a:p>
        </p:txBody>
      </p:sp>
    </p:spTree>
    <p:extLst>
      <p:ext uri="{BB962C8B-B14F-4D97-AF65-F5344CB8AC3E}">
        <p14:creationId xmlns:p14="http://schemas.microsoft.com/office/powerpoint/2010/main" val="35774967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88A8B6-7A24-186A-4DEB-F2F0A6705838}"/>
              </a:ext>
            </a:extLst>
          </p:cNvPr>
          <p:cNvSpPr txBox="1"/>
          <p:nvPr/>
        </p:nvSpPr>
        <p:spPr>
          <a:xfrm>
            <a:off x="643213" y="1390043"/>
            <a:ext cx="410647" cy="283155"/>
          </a:xfrm>
          <a:prstGeom prst="rect">
            <a:avLst/>
          </a:prstGeom>
          <a:noFill/>
        </p:spPr>
        <p:txBody>
          <a:bodyPr wrap="square" rtlCol="0">
            <a:spAutoFit/>
          </a:bodyPr>
          <a:lstStyle/>
          <a:p>
            <a:endParaRPr lang="en-IN" dirty="0"/>
          </a:p>
        </p:txBody>
      </p:sp>
      <p:pic>
        <p:nvPicPr>
          <p:cNvPr id="1026" name="Picture 2" descr="Design Projects in VLSI Systems Course I Stanford Online">
            <a:extLst>
              <a:ext uri="{FF2B5EF4-FFF2-40B4-BE49-F238E27FC236}">
                <a16:creationId xmlns:a16="http://schemas.microsoft.com/office/drawing/2014/main" id="{17B39FF0-7055-1418-A565-6BB6A1C6A5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618066"/>
            <a:ext cx="6485467" cy="4961467"/>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Arrow Connector 3">
            <a:extLst>
              <a:ext uri="{FF2B5EF4-FFF2-40B4-BE49-F238E27FC236}">
                <a16:creationId xmlns:a16="http://schemas.microsoft.com/office/drawing/2014/main" id="{026B15B3-8DEE-6F09-8DA6-DCDCA5C36281}"/>
              </a:ext>
            </a:extLst>
          </p:cNvPr>
          <p:cNvCxnSpPr/>
          <p:nvPr/>
        </p:nvCxnSpPr>
        <p:spPr>
          <a:xfrm>
            <a:off x="7560734" y="1366153"/>
            <a:ext cx="3471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FB96EF8-1A5D-7C40-C489-762953AADB61}"/>
              </a:ext>
            </a:extLst>
          </p:cNvPr>
          <p:cNvSpPr txBox="1"/>
          <p:nvPr/>
        </p:nvSpPr>
        <p:spPr>
          <a:xfrm>
            <a:off x="8001001" y="1151467"/>
            <a:ext cx="3115732" cy="4801314"/>
          </a:xfrm>
          <a:prstGeom prst="rect">
            <a:avLst/>
          </a:prstGeom>
          <a:noFill/>
        </p:spPr>
        <p:txBody>
          <a:bodyPr wrap="square" rtlCol="0">
            <a:spAutoFit/>
          </a:bodyPr>
          <a:lstStyle/>
          <a:p>
            <a:r>
              <a:rPr lang="en-IN" dirty="0"/>
              <a:t>Introduction to ALU</a:t>
            </a:r>
          </a:p>
          <a:p>
            <a:endParaRPr lang="en-IN" dirty="0"/>
          </a:p>
          <a:p>
            <a:r>
              <a:rPr lang="en-IN" dirty="0"/>
              <a:t>Introduction to RAM</a:t>
            </a:r>
          </a:p>
          <a:p>
            <a:endParaRPr lang="en-IN" dirty="0"/>
          </a:p>
          <a:p>
            <a:r>
              <a:rPr lang="en-IN" dirty="0"/>
              <a:t>32-bit ALU</a:t>
            </a:r>
          </a:p>
          <a:p>
            <a:endParaRPr lang="en-IN" dirty="0"/>
          </a:p>
          <a:p>
            <a:r>
              <a:rPr lang="en-IN" dirty="0"/>
              <a:t>Working of 32-bit ALU</a:t>
            </a:r>
          </a:p>
          <a:p>
            <a:endParaRPr lang="en-IN" dirty="0"/>
          </a:p>
          <a:p>
            <a:r>
              <a:rPr lang="en-IN" dirty="0"/>
              <a:t>Design Code</a:t>
            </a:r>
          </a:p>
          <a:p>
            <a:endParaRPr lang="en-IN" dirty="0"/>
          </a:p>
          <a:p>
            <a:r>
              <a:rPr lang="en-IN" dirty="0"/>
              <a:t>Testbench</a:t>
            </a:r>
          </a:p>
          <a:p>
            <a:endParaRPr lang="en-IN" dirty="0"/>
          </a:p>
          <a:p>
            <a:r>
              <a:rPr lang="en-IN" dirty="0"/>
              <a:t>Applications </a:t>
            </a:r>
          </a:p>
          <a:p>
            <a:endParaRPr lang="en-IN" dirty="0"/>
          </a:p>
          <a:p>
            <a:r>
              <a:rPr lang="en-IN" dirty="0"/>
              <a:t>Advantages/Disadvantages</a:t>
            </a:r>
          </a:p>
          <a:p>
            <a:endParaRPr lang="en-IN" dirty="0"/>
          </a:p>
          <a:p>
            <a:r>
              <a:rPr lang="en-IN" dirty="0"/>
              <a:t>Summary</a:t>
            </a:r>
          </a:p>
        </p:txBody>
      </p:sp>
      <p:cxnSp>
        <p:nvCxnSpPr>
          <p:cNvPr id="7" name="Straight Arrow Connector 6">
            <a:extLst>
              <a:ext uri="{FF2B5EF4-FFF2-40B4-BE49-F238E27FC236}">
                <a16:creationId xmlns:a16="http://schemas.microsoft.com/office/drawing/2014/main" id="{C83CA4FD-93C7-AED3-F965-5BFB35C0BF07}"/>
              </a:ext>
            </a:extLst>
          </p:cNvPr>
          <p:cNvCxnSpPr>
            <a:cxnSpLocks/>
          </p:cNvCxnSpPr>
          <p:nvPr/>
        </p:nvCxnSpPr>
        <p:spPr>
          <a:xfrm>
            <a:off x="7552266" y="1871133"/>
            <a:ext cx="3810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9B7C9A8-94F5-B8A0-00AA-CAEB59838416}"/>
              </a:ext>
            </a:extLst>
          </p:cNvPr>
          <p:cNvCxnSpPr/>
          <p:nvPr/>
        </p:nvCxnSpPr>
        <p:spPr>
          <a:xfrm>
            <a:off x="7552266" y="2438400"/>
            <a:ext cx="3556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DA3AA535-6B07-A112-3F8F-4F1BFC407BF1}"/>
              </a:ext>
            </a:extLst>
          </p:cNvPr>
          <p:cNvCxnSpPr/>
          <p:nvPr/>
        </p:nvCxnSpPr>
        <p:spPr>
          <a:xfrm>
            <a:off x="7484534" y="2954867"/>
            <a:ext cx="4402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3DF939B-9955-2F21-08CB-C87EFE97AD80}"/>
              </a:ext>
            </a:extLst>
          </p:cNvPr>
          <p:cNvCxnSpPr/>
          <p:nvPr/>
        </p:nvCxnSpPr>
        <p:spPr>
          <a:xfrm>
            <a:off x="7552266" y="4072467"/>
            <a:ext cx="3556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B12AD9F-4BFB-02B0-87DB-036EFE688ADC}"/>
              </a:ext>
            </a:extLst>
          </p:cNvPr>
          <p:cNvCxnSpPr/>
          <p:nvPr/>
        </p:nvCxnSpPr>
        <p:spPr>
          <a:xfrm>
            <a:off x="7569200" y="4622799"/>
            <a:ext cx="3556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BAAD5C3-DB50-1124-2BB5-93EDF90CB903}"/>
              </a:ext>
            </a:extLst>
          </p:cNvPr>
          <p:cNvCxnSpPr/>
          <p:nvPr/>
        </p:nvCxnSpPr>
        <p:spPr>
          <a:xfrm>
            <a:off x="7569200" y="5164666"/>
            <a:ext cx="3556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552CFC7-C448-8CBA-36F7-0C2DFABC617C}"/>
              </a:ext>
            </a:extLst>
          </p:cNvPr>
          <p:cNvCxnSpPr>
            <a:cxnSpLocks/>
          </p:cNvCxnSpPr>
          <p:nvPr/>
        </p:nvCxnSpPr>
        <p:spPr>
          <a:xfrm>
            <a:off x="7569200" y="5740400"/>
            <a:ext cx="3640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54AFB71A-2586-72B8-76F2-C5F2914D6DA6}"/>
              </a:ext>
            </a:extLst>
          </p:cNvPr>
          <p:cNvCxnSpPr>
            <a:endCxn id="5" idx="1"/>
          </p:cNvCxnSpPr>
          <p:nvPr/>
        </p:nvCxnSpPr>
        <p:spPr>
          <a:xfrm>
            <a:off x="7569200" y="3552124"/>
            <a:ext cx="4318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4621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5091A58-7733-CA3E-10C5-0B0880B4D5C1}"/>
              </a:ext>
            </a:extLst>
          </p:cNvPr>
          <p:cNvSpPr txBox="1"/>
          <p:nvPr/>
        </p:nvSpPr>
        <p:spPr>
          <a:xfrm>
            <a:off x="4131733" y="1236133"/>
            <a:ext cx="2887133" cy="477054"/>
          </a:xfrm>
          <a:prstGeom prst="rect">
            <a:avLst/>
          </a:prstGeom>
          <a:noFill/>
        </p:spPr>
        <p:txBody>
          <a:bodyPr wrap="square" rtlCol="0">
            <a:spAutoFit/>
          </a:bodyPr>
          <a:lstStyle/>
          <a:p>
            <a:r>
              <a:rPr lang="en-IN" sz="2500" dirty="0"/>
              <a:t>Introduction To ALU</a:t>
            </a:r>
          </a:p>
        </p:txBody>
      </p:sp>
      <p:sp>
        <p:nvSpPr>
          <p:cNvPr id="3" name="TextBox 2">
            <a:extLst>
              <a:ext uri="{FF2B5EF4-FFF2-40B4-BE49-F238E27FC236}">
                <a16:creationId xmlns:a16="http://schemas.microsoft.com/office/drawing/2014/main" id="{5D337AD0-DB82-F272-18DF-B830210DDDF4}"/>
              </a:ext>
            </a:extLst>
          </p:cNvPr>
          <p:cNvSpPr txBox="1"/>
          <p:nvPr/>
        </p:nvSpPr>
        <p:spPr>
          <a:xfrm>
            <a:off x="1397001" y="2108200"/>
            <a:ext cx="9440332" cy="3477875"/>
          </a:xfrm>
          <a:prstGeom prst="rect">
            <a:avLst/>
          </a:prstGeom>
          <a:noFill/>
        </p:spPr>
        <p:txBody>
          <a:bodyPr wrap="square" rtlCol="0">
            <a:spAutoFit/>
          </a:bodyPr>
          <a:lstStyle/>
          <a:p>
            <a:pPr marL="342900" indent="-342900">
              <a:buFont typeface="Wingdings" panose="05000000000000000000" pitchFamily="2" charset="2"/>
              <a:buChar char="Ø"/>
            </a:pPr>
            <a:r>
              <a:rPr lang="en-US" sz="2200" dirty="0"/>
              <a:t>ALU stands for Arithmetic Logic Unit. It is a fundamental component of the CPU.</a:t>
            </a:r>
          </a:p>
          <a:p>
            <a:pPr marL="342900" indent="-342900">
              <a:buFont typeface="Wingdings" panose="05000000000000000000" pitchFamily="2" charset="2"/>
              <a:buChar char="Ø"/>
            </a:pPr>
            <a:r>
              <a:rPr lang="en-US" sz="2200" dirty="0"/>
              <a:t>Performs arithmetic operations like addition and subtraction.</a:t>
            </a:r>
          </a:p>
          <a:p>
            <a:pPr marL="342900" indent="-342900">
              <a:buFont typeface="Wingdings" panose="05000000000000000000" pitchFamily="2" charset="2"/>
              <a:buChar char="Ø"/>
            </a:pPr>
            <a:r>
              <a:rPr lang="en-US" sz="2200" dirty="0"/>
              <a:t>Executes logic operations like AND, OR, XOR, and NOT. Operates on binary input data (usually two operands).</a:t>
            </a:r>
          </a:p>
          <a:p>
            <a:pPr marL="342900" indent="-342900">
              <a:buFont typeface="Wingdings" panose="05000000000000000000" pitchFamily="2" charset="2"/>
              <a:buChar char="Ø"/>
            </a:pPr>
            <a:r>
              <a:rPr lang="en-US" sz="2200" dirty="0"/>
              <a:t>Controlled by an opcode (operation code) to select the function. Outputs a result and may produce status flags (zero, carryout, overflow).</a:t>
            </a:r>
          </a:p>
          <a:p>
            <a:pPr marL="342900" indent="-342900">
              <a:buFont typeface="Wingdings" panose="05000000000000000000" pitchFamily="2" charset="2"/>
              <a:buChar char="Ø"/>
            </a:pPr>
            <a:r>
              <a:rPr lang="en-US" sz="2200" dirty="0"/>
              <a:t>Plays a crucial role in data processing and decision-making.</a:t>
            </a:r>
          </a:p>
          <a:p>
            <a:pPr marL="342900" indent="-342900">
              <a:buFont typeface="Wingdings" panose="05000000000000000000" pitchFamily="2" charset="2"/>
              <a:buChar char="Ø"/>
            </a:pPr>
            <a:r>
              <a:rPr lang="en-US" sz="2200" dirty="0"/>
              <a:t>Can be integrated with memory (RAM) for data storage and retrieval.</a:t>
            </a:r>
          </a:p>
          <a:p>
            <a:pPr marL="342900" indent="-342900">
              <a:buFont typeface="Wingdings" panose="05000000000000000000" pitchFamily="2" charset="2"/>
              <a:buChar char="Ø"/>
            </a:pPr>
            <a:r>
              <a:rPr lang="en-US" sz="2200" dirty="0"/>
              <a:t>Used in all digital systems—from simple microcontrollers to complex CPUs</a:t>
            </a:r>
            <a:r>
              <a:rPr lang="en-US" dirty="0"/>
              <a:t>.</a:t>
            </a:r>
            <a:endParaRPr lang="en-IN" dirty="0"/>
          </a:p>
        </p:txBody>
      </p:sp>
    </p:spTree>
    <p:extLst>
      <p:ext uri="{BB962C8B-B14F-4D97-AF65-F5344CB8AC3E}">
        <p14:creationId xmlns:p14="http://schemas.microsoft.com/office/powerpoint/2010/main" val="1262625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92803B-574A-ECF4-4114-C69FA4E75C81}"/>
              </a:ext>
            </a:extLst>
          </p:cNvPr>
          <p:cNvSpPr txBox="1"/>
          <p:nvPr/>
        </p:nvSpPr>
        <p:spPr>
          <a:xfrm>
            <a:off x="3505201" y="1159933"/>
            <a:ext cx="5046132" cy="538609"/>
          </a:xfrm>
          <a:prstGeom prst="rect">
            <a:avLst/>
          </a:prstGeom>
          <a:noFill/>
        </p:spPr>
        <p:txBody>
          <a:bodyPr wrap="square" rtlCol="0">
            <a:spAutoFit/>
          </a:bodyPr>
          <a:lstStyle/>
          <a:p>
            <a:r>
              <a:rPr lang="en-IN" sz="2900" dirty="0"/>
              <a:t>Random Access Memory [RAM]:</a:t>
            </a:r>
          </a:p>
        </p:txBody>
      </p:sp>
      <p:sp>
        <p:nvSpPr>
          <p:cNvPr id="3" name="TextBox 2">
            <a:extLst>
              <a:ext uri="{FF2B5EF4-FFF2-40B4-BE49-F238E27FC236}">
                <a16:creationId xmlns:a16="http://schemas.microsoft.com/office/drawing/2014/main" id="{4276F0FE-D299-9628-92FB-20DBA0741038}"/>
              </a:ext>
            </a:extLst>
          </p:cNvPr>
          <p:cNvSpPr txBox="1"/>
          <p:nvPr/>
        </p:nvSpPr>
        <p:spPr>
          <a:xfrm>
            <a:off x="990599" y="2463800"/>
            <a:ext cx="10320867" cy="2862322"/>
          </a:xfrm>
          <a:prstGeom prst="rect">
            <a:avLst/>
          </a:prstGeom>
          <a:noFill/>
        </p:spPr>
        <p:txBody>
          <a:bodyPr wrap="square" rtlCol="0">
            <a:spAutoFit/>
          </a:bodyPr>
          <a:lstStyle/>
          <a:p>
            <a:pPr marL="285750" indent="-285750">
              <a:buFont typeface="Arial" panose="020B0604020202020204" pitchFamily="34" charset="0"/>
              <a:buChar char="•"/>
            </a:pPr>
            <a:r>
              <a:rPr lang="en-US" dirty="0"/>
              <a:t>Integrated RAM provides temporary storage for operands and results within the ALU system.</a:t>
            </a:r>
          </a:p>
          <a:p>
            <a:endParaRPr lang="en-US" dirty="0"/>
          </a:p>
          <a:p>
            <a:pPr marL="285750" indent="-285750">
              <a:buFont typeface="Arial" panose="020B0604020202020204" pitchFamily="34" charset="0"/>
              <a:buChar char="•"/>
            </a:pPr>
            <a:r>
              <a:rPr lang="en-US" dirty="0"/>
              <a:t>It is typically a small memory array (e.g., 256 x 32-bit) with read/write capabilities.</a:t>
            </a:r>
          </a:p>
          <a:p>
            <a:endParaRPr lang="en-US" dirty="0"/>
          </a:p>
          <a:p>
            <a:pPr marL="285750" indent="-285750">
              <a:buFont typeface="Arial" panose="020B0604020202020204" pitchFamily="34" charset="0"/>
              <a:buChar char="•"/>
            </a:pPr>
            <a:r>
              <a:rPr lang="en-US" dirty="0"/>
              <a:t>ALU reads input data from RAM, performs operations, and writes the result back.</a:t>
            </a:r>
          </a:p>
          <a:p>
            <a:endParaRPr lang="en-US" dirty="0"/>
          </a:p>
          <a:p>
            <a:pPr marL="285750" indent="-285750">
              <a:buFont typeface="Arial" panose="020B0604020202020204" pitchFamily="34" charset="0"/>
              <a:buChar char="•"/>
            </a:pPr>
            <a:r>
              <a:rPr lang="en-US" dirty="0"/>
              <a:t>Controlled using signals like address, </a:t>
            </a:r>
            <a:r>
              <a:rPr lang="en-US" dirty="0" err="1"/>
              <a:t>write_enable</a:t>
            </a:r>
            <a:r>
              <a:rPr lang="en-US" dirty="0"/>
              <a:t>, </a:t>
            </a:r>
            <a:r>
              <a:rPr lang="en-US" dirty="0" err="1"/>
              <a:t>data_in</a:t>
            </a:r>
            <a:r>
              <a:rPr lang="en-US" dirty="0"/>
              <a:t>, and </a:t>
            </a:r>
            <a:r>
              <a:rPr lang="en-US" dirty="0" err="1"/>
              <a:t>data_out.Mimics</a:t>
            </a:r>
            <a:r>
              <a:rPr lang="en-US" dirty="0"/>
              <a:t> how a real processor interacts with memory for instruction and data processing.</a:t>
            </a:r>
          </a:p>
          <a:p>
            <a:endParaRPr lang="en-US" dirty="0"/>
          </a:p>
          <a:p>
            <a:pPr marL="285750" indent="-285750">
              <a:buFont typeface="Arial" panose="020B0604020202020204" pitchFamily="34" charset="0"/>
              <a:buChar char="•"/>
            </a:pPr>
            <a:r>
              <a:rPr lang="en-US" dirty="0"/>
              <a:t>Enables efficient data flow, testing, and operation sequencing in ALU-based designs.</a:t>
            </a:r>
            <a:endParaRPr lang="en-IN" dirty="0"/>
          </a:p>
        </p:txBody>
      </p:sp>
    </p:spTree>
    <p:extLst>
      <p:ext uri="{BB962C8B-B14F-4D97-AF65-F5344CB8AC3E}">
        <p14:creationId xmlns:p14="http://schemas.microsoft.com/office/powerpoint/2010/main" val="1028333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8AAA19D-C8BB-B2B3-6369-8F4A557C01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868" y="1617133"/>
            <a:ext cx="7331199" cy="4021667"/>
          </a:xfrm>
          <a:prstGeom prst="rect">
            <a:avLst/>
          </a:prstGeom>
        </p:spPr>
      </p:pic>
      <p:sp>
        <p:nvSpPr>
          <p:cNvPr id="10" name="TextBox 9">
            <a:extLst>
              <a:ext uri="{FF2B5EF4-FFF2-40B4-BE49-F238E27FC236}">
                <a16:creationId xmlns:a16="http://schemas.microsoft.com/office/drawing/2014/main" id="{8D969AE2-64D8-EE60-5286-F0266CF44549}"/>
              </a:ext>
            </a:extLst>
          </p:cNvPr>
          <p:cNvSpPr txBox="1"/>
          <p:nvPr/>
        </p:nvSpPr>
        <p:spPr>
          <a:xfrm>
            <a:off x="906868" y="849868"/>
            <a:ext cx="2935612" cy="430887"/>
          </a:xfrm>
          <a:prstGeom prst="rect">
            <a:avLst/>
          </a:prstGeom>
          <a:noFill/>
        </p:spPr>
        <p:txBody>
          <a:bodyPr wrap="none" rtlCol="0">
            <a:spAutoFit/>
          </a:bodyPr>
          <a:lstStyle/>
          <a:p>
            <a:r>
              <a:rPr lang="en-IN" sz="2200" dirty="0"/>
              <a:t>Block Diagram Of RAM</a:t>
            </a:r>
          </a:p>
        </p:txBody>
      </p:sp>
      <p:sp>
        <p:nvSpPr>
          <p:cNvPr id="11" name="TextBox 10">
            <a:extLst>
              <a:ext uri="{FF2B5EF4-FFF2-40B4-BE49-F238E27FC236}">
                <a16:creationId xmlns:a16="http://schemas.microsoft.com/office/drawing/2014/main" id="{0A91879E-54CB-03EC-795B-FF9A4C9E4618}"/>
              </a:ext>
            </a:extLst>
          </p:cNvPr>
          <p:cNvSpPr txBox="1"/>
          <p:nvPr/>
        </p:nvSpPr>
        <p:spPr>
          <a:xfrm>
            <a:off x="8576734" y="1955800"/>
            <a:ext cx="2429934" cy="2554545"/>
          </a:xfrm>
          <a:prstGeom prst="rect">
            <a:avLst/>
          </a:prstGeom>
          <a:noFill/>
        </p:spPr>
        <p:txBody>
          <a:bodyPr wrap="square" rtlCol="0">
            <a:spAutoFit/>
          </a:bodyPr>
          <a:lstStyle/>
          <a:p>
            <a:r>
              <a:rPr lang="en-IN" dirty="0"/>
              <a:t> </a:t>
            </a:r>
            <a:r>
              <a:rPr lang="en-IN" sz="2500" dirty="0"/>
              <a:t>Inputs: </a:t>
            </a:r>
          </a:p>
          <a:p>
            <a:pPr marL="285750" indent="-285750">
              <a:buFont typeface="Arial" panose="020B0604020202020204" pitchFamily="34" charset="0"/>
              <a:buChar char="•"/>
            </a:pPr>
            <a:r>
              <a:rPr lang="en-IN" dirty="0"/>
              <a:t> Chip select1</a:t>
            </a:r>
          </a:p>
          <a:p>
            <a:pPr marL="285750" indent="-285750">
              <a:buFont typeface="Arial" panose="020B0604020202020204" pitchFamily="34" charset="0"/>
              <a:buChar char="•"/>
            </a:pPr>
            <a:r>
              <a:rPr lang="en-IN" dirty="0"/>
              <a:t> Chip select2</a:t>
            </a:r>
          </a:p>
          <a:p>
            <a:pPr marL="285750" indent="-285750">
              <a:buFont typeface="Arial" panose="020B0604020202020204" pitchFamily="34" charset="0"/>
              <a:buChar char="•"/>
            </a:pPr>
            <a:r>
              <a:rPr lang="en-IN" dirty="0"/>
              <a:t> Read</a:t>
            </a:r>
          </a:p>
          <a:p>
            <a:pPr marL="285750" indent="-285750">
              <a:buFont typeface="Arial" panose="020B0604020202020204" pitchFamily="34" charset="0"/>
              <a:buChar char="•"/>
            </a:pPr>
            <a:r>
              <a:rPr lang="en-IN" dirty="0"/>
              <a:t> Write</a:t>
            </a:r>
          </a:p>
          <a:p>
            <a:pPr marL="285750" indent="-285750">
              <a:buFont typeface="Arial" panose="020B0604020202020204" pitchFamily="34" charset="0"/>
              <a:buChar char="•"/>
            </a:pPr>
            <a:r>
              <a:rPr lang="en-IN" dirty="0"/>
              <a:t> 7-bit address</a:t>
            </a:r>
          </a:p>
          <a:p>
            <a:r>
              <a:rPr lang="en-IN" sz="2500" dirty="0"/>
              <a:t>Output</a:t>
            </a:r>
            <a:r>
              <a:rPr lang="en-IN" sz="2300" dirty="0"/>
              <a:t>:</a:t>
            </a:r>
          </a:p>
          <a:p>
            <a:pPr marL="285750" indent="-285750">
              <a:buFont typeface="Arial" panose="020B0604020202020204" pitchFamily="34" charset="0"/>
              <a:buChar char="•"/>
            </a:pPr>
            <a:r>
              <a:rPr lang="en-IN" dirty="0"/>
              <a:t> 8-bit data bus</a:t>
            </a:r>
          </a:p>
        </p:txBody>
      </p:sp>
    </p:spTree>
    <p:extLst>
      <p:ext uri="{BB962C8B-B14F-4D97-AF65-F5344CB8AC3E}">
        <p14:creationId xmlns:p14="http://schemas.microsoft.com/office/powerpoint/2010/main" val="3032614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6F54A5-EB6C-FAA7-7683-33F047C8290B}"/>
              </a:ext>
            </a:extLst>
          </p:cNvPr>
          <p:cNvSpPr txBox="1"/>
          <p:nvPr/>
        </p:nvSpPr>
        <p:spPr>
          <a:xfrm>
            <a:off x="795865" y="1210733"/>
            <a:ext cx="10244668" cy="553998"/>
          </a:xfrm>
          <a:prstGeom prst="rect">
            <a:avLst/>
          </a:prstGeom>
          <a:noFill/>
        </p:spPr>
        <p:txBody>
          <a:bodyPr wrap="square" rtlCol="0">
            <a:spAutoFit/>
          </a:bodyPr>
          <a:lstStyle/>
          <a:p>
            <a:pPr algn="ctr"/>
            <a:r>
              <a:rPr lang="en-IN" sz="3000" dirty="0"/>
              <a:t>Introduction To 32-Bit ALU</a:t>
            </a:r>
          </a:p>
        </p:txBody>
      </p:sp>
      <p:sp>
        <p:nvSpPr>
          <p:cNvPr id="3" name="TextBox 2">
            <a:extLst>
              <a:ext uri="{FF2B5EF4-FFF2-40B4-BE49-F238E27FC236}">
                <a16:creationId xmlns:a16="http://schemas.microsoft.com/office/drawing/2014/main" id="{C966EC60-8DEC-D6E0-94A4-36A77394FA56}"/>
              </a:ext>
            </a:extLst>
          </p:cNvPr>
          <p:cNvSpPr txBox="1"/>
          <p:nvPr/>
        </p:nvSpPr>
        <p:spPr>
          <a:xfrm>
            <a:off x="1269999" y="2226733"/>
            <a:ext cx="8779934" cy="3477875"/>
          </a:xfrm>
          <a:prstGeom prst="rect">
            <a:avLst/>
          </a:prstGeom>
          <a:noFill/>
        </p:spPr>
        <p:txBody>
          <a:bodyPr wrap="square" rtlCol="0">
            <a:spAutoFit/>
          </a:bodyPr>
          <a:lstStyle/>
          <a:p>
            <a:pPr marL="342900" indent="-342900">
              <a:buFont typeface="Arial" panose="020B0604020202020204" pitchFamily="34" charset="0"/>
              <a:buChar char="•"/>
            </a:pPr>
            <a:r>
              <a:rPr lang="en-US" sz="2200" dirty="0"/>
              <a:t>A 32-bit ALU performs arithmetic and logic operations on 32-bit binary data.</a:t>
            </a:r>
          </a:p>
          <a:p>
            <a:pPr marL="342900" indent="-342900">
              <a:buFont typeface="Arial" panose="020B0604020202020204" pitchFamily="34" charset="0"/>
              <a:buChar char="•"/>
            </a:pPr>
            <a:r>
              <a:rPr lang="en-US" sz="2200" dirty="0"/>
              <a:t>It supports functions like addition, subtraction, AND, OR, XOR, and NOT.</a:t>
            </a:r>
          </a:p>
          <a:p>
            <a:pPr marL="342900" indent="-342900">
              <a:buFont typeface="Arial" panose="020B0604020202020204" pitchFamily="34" charset="0"/>
              <a:buChar char="•"/>
            </a:pPr>
            <a:r>
              <a:rPr lang="en-US" sz="2200" dirty="0"/>
              <a:t>Operates based on an opcode, which selects the desired </a:t>
            </a:r>
            <a:r>
              <a:rPr lang="en-US" sz="2200" dirty="0" err="1"/>
              <a:t>operation.Takes</a:t>
            </a:r>
            <a:r>
              <a:rPr lang="en-US" sz="2200" dirty="0"/>
              <a:t> two 32-bit inputs and produces a 32-bit result along with status flags (e.g., zero, carryout).</a:t>
            </a:r>
          </a:p>
          <a:p>
            <a:pPr marL="342900" indent="-342900">
              <a:buFont typeface="Arial" panose="020B0604020202020204" pitchFamily="34" charset="0"/>
              <a:buChar char="•"/>
            </a:pPr>
            <a:r>
              <a:rPr lang="en-US" sz="2200" dirty="0"/>
              <a:t>Commonly used in processors and digital systems to perform high-speed computations.</a:t>
            </a:r>
          </a:p>
          <a:p>
            <a:pPr marL="342900" indent="-342900">
              <a:buFont typeface="Arial" panose="020B0604020202020204" pitchFamily="34" charset="0"/>
              <a:buChar char="•"/>
            </a:pPr>
            <a:r>
              <a:rPr lang="en-US" sz="2200" dirty="0"/>
              <a:t>Serves as the core of data processing in CPUs, microcontrollers, and embedded systems.</a:t>
            </a:r>
            <a:endParaRPr lang="en-IN" sz="2200" dirty="0"/>
          </a:p>
        </p:txBody>
      </p:sp>
    </p:spTree>
    <p:extLst>
      <p:ext uri="{BB962C8B-B14F-4D97-AF65-F5344CB8AC3E}">
        <p14:creationId xmlns:p14="http://schemas.microsoft.com/office/powerpoint/2010/main" val="2729317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FE303-BA3D-9794-2C14-CA1DCA1427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2867" y="1862667"/>
            <a:ext cx="9889066" cy="4326466"/>
          </a:xfrm>
          <a:prstGeom prst="rect">
            <a:avLst/>
          </a:prstGeom>
        </p:spPr>
      </p:pic>
      <p:sp>
        <p:nvSpPr>
          <p:cNvPr id="5" name="TextBox 4">
            <a:extLst>
              <a:ext uri="{FF2B5EF4-FFF2-40B4-BE49-F238E27FC236}">
                <a16:creationId xmlns:a16="http://schemas.microsoft.com/office/drawing/2014/main" id="{6BDC4A09-4492-9486-163F-4CD1250DB9A2}"/>
              </a:ext>
            </a:extLst>
          </p:cNvPr>
          <p:cNvSpPr txBox="1"/>
          <p:nvPr/>
        </p:nvSpPr>
        <p:spPr>
          <a:xfrm>
            <a:off x="1058334" y="821267"/>
            <a:ext cx="4893734" cy="553998"/>
          </a:xfrm>
          <a:prstGeom prst="rect">
            <a:avLst/>
          </a:prstGeom>
          <a:noFill/>
        </p:spPr>
        <p:txBody>
          <a:bodyPr wrap="square" rtlCol="0">
            <a:spAutoFit/>
          </a:bodyPr>
          <a:lstStyle/>
          <a:p>
            <a:r>
              <a:rPr lang="en-IN" sz="3000" dirty="0"/>
              <a:t>Block Diagram of 32-bit ALU:</a:t>
            </a:r>
          </a:p>
        </p:txBody>
      </p:sp>
    </p:spTree>
    <p:extLst>
      <p:ext uri="{BB962C8B-B14F-4D97-AF65-F5344CB8AC3E}">
        <p14:creationId xmlns:p14="http://schemas.microsoft.com/office/powerpoint/2010/main" val="3001083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A37031-3612-B2BF-648C-DCA718F75886}"/>
              </a:ext>
            </a:extLst>
          </p:cNvPr>
          <p:cNvSpPr txBox="1"/>
          <p:nvPr/>
        </p:nvSpPr>
        <p:spPr>
          <a:xfrm>
            <a:off x="1532467" y="931333"/>
            <a:ext cx="4885266" cy="600164"/>
          </a:xfrm>
          <a:prstGeom prst="rect">
            <a:avLst/>
          </a:prstGeom>
          <a:noFill/>
        </p:spPr>
        <p:txBody>
          <a:bodyPr wrap="square" rtlCol="0">
            <a:spAutoFit/>
          </a:bodyPr>
          <a:lstStyle/>
          <a:p>
            <a:r>
              <a:rPr lang="en-IN" sz="3300" dirty="0"/>
              <a:t>Working Of 32-Bit ALU</a:t>
            </a:r>
            <a:r>
              <a:rPr lang="en-IN" dirty="0"/>
              <a:t>:</a:t>
            </a:r>
          </a:p>
        </p:txBody>
      </p:sp>
      <p:sp>
        <p:nvSpPr>
          <p:cNvPr id="3" name="TextBox 2">
            <a:extLst>
              <a:ext uri="{FF2B5EF4-FFF2-40B4-BE49-F238E27FC236}">
                <a16:creationId xmlns:a16="http://schemas.microsoft.com/office/drawing/2014/main" id="{D1BA95AF-99BB-8B9D-AD74-4E7D13692A96}"/>
              </a:ext>
            </a:extLst>
          </p:cNvPr>
          <p:cNvSpPr txBox="1"/>
          <p:nvPr/>
        </p:nvSpPr>
        <p:spPr>
          <a:xfrm>
            <a:off x="1226916" y="1817225"/>
            <a:ext cx="9954227" cy="4031873"/>
          </a:xfrm>
          <a:prstGeom prst="rect">
            <a:avLst/>
          </a:prstGeom>
          <a:noFill/>
        </p:spPr>
        <p:txBody>
          <a:bodyPr wrap="square" rtlCol="0">
            <a:spAutoFit/>
          </a:bodyPr>
          <a:lstStyle/>
          <a:p>
            <a:pPr marL="342900" indent="-342900">
              <a:buAutoNum type="arabicPeriod"/>
            </a:pPr>
            <a:r>
              <a:rPr lang="en-US" sz="2500" dirty="0"/>
              <a:t>The RAM stores 32-bit binary operands and can be accessed using address lines.</a:t>
            </a:r>
          </a:p>
          <a:p>
            <a:pPr marL="342900" indent="-342900">
              <a:buAutoNum type="arabicPeriod"/>
            </a:pPr>
            <a:r>
              <a:rPr lang="en-US" sz="2500" dirty="0"/>
              <a:t> The ALU receives two 32-bit operands from RAM based on read addresses.</a:t>
            </a:r>
          </a:p>
          <a:p>
            <a:pPr marL="342900" indent="-342900">
              <a:buAutoNum type="arabicPeriod"/>
            </a:pPr>
            <a:r>
              <a:rPr lang="en-US" sz="2500" dirty="0"/>
              <a:t> An opcode input determines which operation the ALU will perform (e.g., ADD, SUB, AND).</a:t>
            </a:r>
          </a:p>
          <a:p>
            <a:pPr marL="342900" indent="-342900">
              <a:buAutoNum type="arabicPeriod"/>
            </a:pPr>
            <a:r>
              <a:rPr lang="en-US" sz="2500" dirty="0"/>
              <a:t> The ALU processes the operands and generates a 32-bit result.</a:t>
            </a:r>
          </a:p>
          <a:p>
            <a:pPr marL="342900" indent="-342900">
              <a:buAutoNum type="arabicPeriod"/>
            </a:pPr>
            <a:r>
              <a:rPr lang="en-US" sz="2500" dirty="0"/>
              <a:t> Status flags like zero and carryout are updated based on the operation result.</a:t>
            </a:r>
          </a:p>
          <a:p>
            <a:pPr marL="342900" indent="-342900">
              <a:buAutoNum type="arabicPeriod"/>
            </a:pPr>
            <a:r>
              <a:rPr lang="en-US" sz="2800" dirty="0"/>
              <a:t> The result from the ALU can be written back into RAM at a specified address.</a:t>
            </a:r>
            <a:endParaRPr lang="en-US" sz="2500" dirty="0"/>
          </a:p>
        </p:txBody>
      </p:sp>
    </p:spTree>
    <p:extLst>
      <p:ext uri="{BB962C8B-B14F-4D97-AF65-F5344CB8AC3E}">
        <p14:creationId xmlns:p14="http://schemas.microsoft.com/office/powerpoint/2010/main" val="1245387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99DA702-E532-9D35-A942-261B0EC34891}"/>
              </a:ext>
            </a:extLst>
          </p:cNvPr>
          <p:cNvSpPr txBox="1"/>
          <p:nvPr/>
        </p:nvSpPr>
        <p:spPr>
          <a:xfrm>
            <a:off x="1180618" y="1759352"/>
            <a:ext cx="9954227" cy="4324261"/>
          </a:xfrm>
          <a:prstGeom prst="rect">
            <a:avLst/>
          </a:prstGeom>
          <a:noFill/>
        </p:spPr>
        <p:txBody>
          <a:bodyPr wrap="square">
            <a:spAutoFit/>
          </a:bodyPr>
          <a:lstStyle/>
          <a:p>
            <a:r>
              <a:rPr lang="en-US" sz="2500" dirty="0"/>
              <a:t>7. The RAM uses control signals such as </a:t>
            </a:r>
            <a:r>
              <a:rPr lang="en-US" sz="2500" dirty="0" err="1"/>
              <a:t>write_enable</a:t>
            </a:r>
            <a:r>
              <a:rPr lang="en-US" sz="2500" dirty="0"/>
              <a:t>, </a:t>
            </a:r>
            <a:r>
              <a:rPr lang="en-US" sz="2500" dirty="0" err="1"/>
              <a:t>read_address</a:t>
            </a:r>
            <a:r>
              <a:rPr lang="en-US" sz="2500" dirty="0"/>
              <a:t>, and </a:t>
            </a:r>
            <a:r>
              <a:rPr lang="en-US" sz="2500" dirty="0" err="1"/>
              <a:t>write_address</a:t>
            </a:r>
            <a:r>
              <a:rPr lang="en-US" sz="2500" dirty="0"/>
              <a:t>.</a:t>
            </a:r>
          </a:p>
          <a:p>
            <a:endParaRPr lang="en-US" sz="2500" dirty="0"/>
          </a:p>
          <a:p>
            <a:r>
              <a:rPr lang="en-US" sz="2500" dirty="0"/>
              <a:t>8. This allows read-modify-write operations, enabling data to flow smoothly between RAM and ALU.</a:t>
            </a:r>
          </a:p>
          <a:p>
            <a:endParaRPr lang="en-US" sz="2500" dirty="0"/>
          </a:p>
          <a:p>
            <a:r>
              <a:rPr lang="en-US" sz="2500" dirty="0"/>
              <a:t>9. The design simulates a simple processor data path, combining computation and storage.</a:t>
            </a:r>
          </a:p>
          <a:p>
            <a:endParaRPr lang="en-US" sz="2500" dirty="0"/>
          </a:p>
          <a:p>
            <a:r>
              <a:rPr lang="en-US" sz="2500" dirty="0"/>
              <a:t>10. This setup is commonly used in CPU design simulations and digital system testbenches.</a:t>
            </a:r>
            <a:endParaRPr lang="en-IN" sz="2500" dirty="0"/>
          </a:p>
        </p:txBody>
      </p:sp>
    </p:spTree>
    <p:extLst>
      <p:ext uri="{BB962C8B-B14F-4D97-AF65-F5344CB8AC3E}">
        <p14:creationId xmlns:p14="http://schemas.microsoft.com/office/powerpoint/2010/main" val="1149330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635C3B-A0BB-868D-388C-D854967F3C40}"/>
              </a:ext>
            </a:extLst>
          </p:cNvPr>
          <p:cNvSpPr txBox="1"/>
          <p:nvPr/>
        </p:nvSpPr>
        <p:spPr>
          <a:xfrm>
            <a:off x="3310360" y="1122744"/>
            <a:ext cx="5949386" cy="600164"/>
          </a:xfrm>
          <a:prstGeom prst="rect">
            <a:avLst/>
          </a:prstGeom>
          <a:noFill/>
        </p:spPr>
        <p:txBody>
          <a:bodyPr wrap="square" rtlCol="0">
            <a:spAutoFit/>
          </a:bodyPr>
          <a:lstStyle/>
          <a:p>
            <a:r>
              <a:rPr lang="en-IN" sz="3300" dirty="0"/>
              <a:t>Integration Of ALU and RAM:</a:t>
            </a:r>
          </a:p>
        </p:txBody>
      </p:sp>
      <p:sp>
        <p:nvSpPr>
          <p:cNvPr id="3" name="TextBox 2">
            <a:extLst>
              <a:ext uri="{FF2B5EF4-FFF2-40B4-BE49-F238E27FC236}">
                <a16:creationId xmlns:a16="http://schemas.microsoft.com/office/drawing/2014/main" id="{8D86D417-EA0B-18D5-A785-CE94D3B5B5F6}"/>
              </a:ext>
            </a:extLst>
          </p:cNvPr>
          <p:cNvSpPr txBox="1"/>
          <p:nvPr/>
        </p:nvSpPr>
        <p:spPr>
          <a:xfrm>
            <a:off x="1371599" y="2071870"/>
            <a:ext cx="9826907" cy="3170099"/>
          </a:xfrm>
          <a:prstGeom prst="rect">
            <a:avLst/>
          </a:prstGeom>
          <a:noFill/>
        </p:spPr>
        <p:txBody>
          <a:bodyPr wrap="square" rtlCol="0">
            <a:spAutoFit/>
          </a:bodyPr>
          <a:lstStyle/>
          <a:p>
            <a:pPr marL="342900" indent="-342900">
              <a:buFont typeface="Wingdings" panose="05000000000000000000" pitchFamily="2" charset="2"/>
              <a:buChar char="v"/>
            </a:pPr>
            <a:r>
              <a:rPr lang="en-US" sz="2500" dirty="0"/>
              <a:t>ALU and RAM are connected to allow data exchange and processing.</a:t>
            </a:r>
          </a:p>
          <a:p>
            <a:pPr marL="342900" indent="-342900">
              <a:buFont typeface="Wingdings" panose="05000000000000000000" pitchFamily="2" charset="2"/>
              <a:buChar char="v"/>
            </a:pPr>
            <a:r>
              <a:rPr lang="en-US" sz="2500" dirty="0"/>
              <a:t>Operands are read from RAM and fed into the ALU.</a:t>
            </a:r>
          </a:p>
          <a:p>
            <a:pPr marL="342900" indent="-342900">
              <a:buFont typeface="Wingdings" panose="05000000000000000000" pitchFamily="2" charset="2"/>
              <a:buChar char="v"/>
            </a:pPr>
            <a:r>
              <a:rPr lang="en-US" sz="2500" dirty="0"/>
              <a:t>ALU performs operations based on an opcode.</a:t>
            </a:r>
          </a:p>
          <a:p>
            <a:pPr marL="342900" indent="-342900">
              <a:buFont typeface="Wingdings" panose="05000000000000000000" pitchFamily="2" charset="2"/>
              <a:buChar char="v"/>
            </a:pPr>
            <a:r>
              <a:rPr lang="en-US" sz="2500" dirty="0"/>
              <a:t>The result is written back to RAM if needed.</a:t>
            </a:r>
          </a:p>
          <a:p>
            <a:pPr marL="342900" indent="-342900">
              <a:buFont typeface="Wingdings" panose="05000000000000000000" pitchFamily="2" charset="2"/>
              <a:buChar char="v"/>
            </a:pPr>
            <a:r>
              <a:rPr lang="en-US" sz="2500" dirty="0"/>
              <a:t>Control signals manage read/write and operation flow.</a:t>
            </a:r>
          </a:p>
          <a:p>
            <a:pPr marL="342900" indent="-342900">
              <a:buFont typeface="Wingdings" panose="05000000000000000000" pitchFamily="2" charset="2"/>
              <a:buChar char="v"/>
            </a:pPr>
            <a:r>
              <a:rPr lang="en-US" sz="2500" dirty="0"/>
              <a:t>Enables a simple CPU-like behavior for efficient computation.</a:t>
            </a:r>
          </a:p>
          <a:p>
            <a:pPr marL="342900" indent="-342900">
              <a:buFont typeface="Wingdings" panose="05000000000000000000" pitchFamily="2" charset="2"/>
              <a:buChar char="v"/>
            </a:pPr>
            <a:r>
              <a:rPr lang="en-US" sz="2500" dirty="0"/>
              <a:t>Efficient data storage and access.</a:t>
            </a:r>
          </a:p>
          <a:p>
            <a:pPr marL="342900" indent="-342900">
              <a:buFont typeface="Wingdings" panose="05000000000000000000" pitchFamily="2" charset="2"/>
              <a:buChar char="v"/>
            </a:pPr>
            <a:r>
              <a:rPr lang="en-US" sz="2500" dirty="0"/>
              <a:t>Enhanced processing speed.</a:t>
            </a:r>
            <a:endParaRPr lang="en-IN" sz="2500" dirty="0"/>
          </a:p>
        </p:txBody>
      </p:sp>
    </p:spTree>
    <p:extLst>
      <p:ext uri="{BB962C8B-B14F-4D97-AF65-F5344CB8AC3E}">
        <p14:creationId xmlns:p14="http://schemas.microsoft.com/office/powerpoint/2010/main" val="643212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4D2F4C-B82C-67D7-7F1C-E3B0A1A39DA3}"/>
              </a:ext>
            </a:extLst>
          </p:cNvPr>
          <p:cNvSpPr txBox="1"/>
          <p:nvPr/>
        </p:nvSpPr>
        <p:spPr>
          <a:xfrm>
            <a:off x="1180618" y="1215342"/>
            <a:ext cx="2416046" cy="600164"/>
          </a:xfrm>
          <a:prstGeom prst="rect">
            <a:avLst/>
          </a:prstGeom>
          <a:noFill/>
        </p:spPr>
        <p:txBody>
          <a:bodyPr wrap="none" rtlCol="0">
            <a:spAutoFit/>
          </a:bodyPr>
          <a:lstStyle/>
          <a:p>
            <a:r>
              <a:rPr lang="en-IN" sz="3300" dirty="0"/>
              <a:t>Design Code:</a:t>
            </a:r>
          </a:p>
        </p:txBody>
      </p:sp>
      <p:sp>
        <p:nvSpPr>
          <p:cNvPr id="3" name="TextBox 2">
            <a:extLst>
              <a:ext uri="{FF2B5EF4-FFF2-40B4-BE49-F238E27FC236}">
                <a16:creationId xmlns:a16="http://schemas.microsoft.com/office/drawing/2014/main" id="{A54FC36A-5431-0D44-A3AE-B3602FF14383}"/>
              </a:ext>
            </a:extLst>
          </p:cNvPr>
          <p:cNvSpPr txBox="1"/>
          <p:nvPr/>
        </p:nvSpPr>
        <p:spPr>
          <a:xfrm>
            <a:off x="1736202" y="2500132"/>
            <a:ext cx="9363920" cy="3554819"/>
          </a:xfrm>
          <a:prstGeom prst="rect">
            <a:avLst/>
          </a:prstGeom>
          <a:noFill/>
        </p:spPr>
        <p:txBody>
          <a:bodyPr wrap="square" rtlCol="0">
            <a:spAutoFit/>
          </a:bodyPr>
          <a:lstStyle/>
          <a:p>
            <a:pPr marL="342900" indent="-342900">
              <a:buFont typeface="Arial" panose="020B0604020202020204" pitchFamily="34" charset="0"/>
              <a:buChar char="•"/>
            </a:pPr>
            <a:r>
              <a:rPr lang="en-US" sz="2500" dirty="0"/>
              <a:t>Purpose: Performs arithmetic and logical operations on two 32-bit operands (A and B) based on a control opcode.</a:t>
            </a:r>
          </a:p>
          <a:p>
            <a:pPr marL="342900" indent="-342900">
              <a:buFont typeface="Arial" panose="020B0604020202020204" pitchFamily="34" charset="0"/>
              <a:buChar char="•"/>
            </a:pPr>
            <a:r>
              <a:rPr lang="en-US" sz="2500" dirty="0" err="1"/>
              <a:t>Inputs:A</a:t>
            </a:r>
            <a:r>
              <a:rPr lang="en-US" sz="2500" dirty="0"/>
              <a:t>[31:0], B[31:0] – 32-bit </a:t>
            </a:r>
            <a:r>
              <a:rPr lang="en-US" sz="2500" dirty="0" err="1"/>
              <a:t>operands.opcode</a:t>
            </a:r>
            <a:r>
              <a:rPr lang="en-US" sz="2500" dirty="0"/>
              <a:t>[3:0] – selects the ALU operation (e.g., add, sub, and, or, </a:t>
            </a:r>
            <a:r>
              <a:rPr lang="en-US" sz="2500" dirty="0" err="1"/>
              <a:t>xor</a:t>
            </a:r>
            <a:r>
              <a:rPr lang="en-US" sz="2500" dirty="0"/>
              <a:t>, </a:t>
            </a:r>
            <a:r>
              <a:rPr lang="en-US" sz="2500" dirty="0" err="1"/>
              <a:t>slt</a:t>
            </a:r>
            <a:r>
              <a:rPr lang="en-US" sz="2500" dirty="0"/>
              <a:t>).</a:t>
            </a:r>
          </a:p>
          <a:p>
            <a:pPr marL="342900" indent="-342900">
              <a:buFont typeface="Arial" panose="020B0604020202020204" pitchFamily="34" charset="0"/>
              <a:buChar char="•"/>
            </a:pPr>
            <a:r>
              <a:rPr lang="en-US" sz="2500" dirty="0" err="1"/>
              <a:t>Outputs:Result</a:t>
            </a:r>
            <a:r>
              <a:rPr lang="en-US" sz="2500" dirty="0"/>
              <a:t>[31:0] – output of the </a:t>
            </a:r>
            <a:r>
              <a:rPr lang="en-US" sz="2500" dirty="0" err="1"/>
              <a:t>operation.Zero</a:t>
            </a:r>
            <a:r>
              <a:rPr lang="en-US" sz="2500" dirty="0"/>
              <a:t> – high if result is 0.</a:t>
            </a:r>
          </a:p>
          <a:p>
            <a:pPr marL="342900" indent="-342900">
              <a:buFont typeface="Arial" panose="020B0604020202020204" pitchFamily="34" charset="0"/>
              <a:buChar char="•"/>
            </a:pPr>
            <a:r>
              <a:rPr lang="en-US" sz="2500" dirty="0" err="1"/>
              <a:t>CarryOut</a:t>
            </a:r>
            <a:r>
              <a:rPr lang="en-US" sz="2500" dirty="0"/>
              <a:t> – high if there's a carry out (for arithmetic).</a:t>
            </a:r>
          </a:p>
          <a:p>
            <a:pPr marL="342900" indent="-342900">
              <a:buFont typeface="Arial" panose="020B0604020202020204" pitchFamily="34" charset="0"/>
              <a:buChar char="•"/>
            </a:pPr>
            <a:r>
              <a:rPr lang="en-US" sz="2500" dirty="0" err="1"/>
              <a:t>Structure:Case</a:t>
            </a:r>
            <a:r>
              <a:rPr lang="en-US" sz="2500" dirty="0"/>
              <a:t> statement on opcode to select operation.</a:t>
            </a:r>
          </a:p>
          <a:p>
            <a:pPr marL="342900" indent="-342900">
              <a:buFont typeface="Arial" panose="020B0604020202020204" pitchFamily="34" charset="0"/>
              <a:buChar char="•"/>
            </a:pPr>
            <a:r>
              <a:rPr lang="en-US" sz="2500" dirty="0"/>
              <a:t>Flag logic to set Zero and </a:t>
            </a:r>
            <a:r>
              <a:rPr lang="en-US" sz="2500" dirty="0" err="1"/>
              <a:t>CarryOut</a:t>
            </a:r>
            <a:r>
              <a:rPr lang="en-US" sz="2500" dirty="0"/>
              <a:t> appropriately.</a:t>
            </a:r>
            <a:endParaRPr lang="en-IN" sz="2500" dirty="0"/>
          </a:p>
        </p:txBody>
      </p:sp>
    </p:spTree>
    <p:extLst>
      <p:ext uri="{BB962C8B-B14F-4D97-AF65-F5344CB8AC3E}">
        <p14:creationId xmlns:p14="http://schemas.microsoft.com/office/powerpoint/2010/main" val="25376767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BD7CB6-F08E-639E-F733-29F35D777AA1}"/>
              </a:ext>
            </a:extLst>
          </p:cNvPr>
          <p:cNvSpPr txBox="1"/>
          <p:nvPr/>
        </p:nvSpPr>
        <p:spPr>
          <a:xfrm>
            <a:off x="1018572" y="1365813"/>
            <a:ext cx="3296352" cy="600164"/>
          </a:xfrm>
          <a:prstGeom prst="rect">
            <a:avLst/>
          </a:prstGeom>
          <a:noFill/>
        </p:spPr>
        <p:txBody>
          <a:bodyPr wrap="none" rtlCol="0">
            <a:spAutoFit/>
          </a:bodyPr>
          <a:lstStyle/>
          <a:p>
            <a:r>
              <a:rPr lang="en-IN" sz="3300" dirty="0"/>
              <a:t>Top Module Code</a:t>
            </a:r>
          </a:p>
        </p:txBody>
      </p:sp>
      <p:sp>
        <p:nvSpPr>
          <p:cNvPr id="4" name="TextBox 3">
            <a:extLst>
              <a:ext uri="{FF2B5EF4-FFF2-40B4-BE49-F238E27FC236}">
                <a16:creationId xmlns:a16="http://schemas.microsoft.com/office/drawing/2014/main" id="{24D64BF7-B07C-AB5E-2E20-E96C887956EC}"/>
              </a:ext>
            </a:extLst>
          </p:cNvPr>
          <p:cNvSpPr txBox="1"/>
          <p:nvPr/>
        </p:nvSpPr>
        <p:spPr>
          <a:xfrm>
            <a:off x="1446835" y="2650603"/>
            <a:ext cx="9676436" cy="3170099"/>
          </a:xfrm>
          <a:prstGeom prst="rect">
            <a:avLst/>
          </a:prstGeom>
          <a:noFill/>
        </p:spPr>
        <p:txBody>
          <a:bodyPr wrap="square" rtlCol="0">
            <a:spAutoFit/>
          </a:bodyPr>
          <a:lstStyle/>
          <a:p>
            <a:pPr marL="342900" indent="-342900">
              <a:buFont typeface="Arial" panose="020B0604020202020204" pitchFamily="34" charset="0"/>
              <a:buChar char="•"/>
            </a:pPr>
            <a:r>
              <a:rPr lang="en-IN" sz="2500" dirty="0"/>
              <a:t>Purpose: Integrates ALU with RAM for read/write of operands and storing results.</a:t>
            </a:r>
          </a:p>
          <a:p>
            <a:pPr marL="342900" indent="-342900">
              <a:buFont typeface="Arial" panose="020B0604020202020204" pitchFamily="34" charset="0"/>
              <a:buChar char="•"/>
            </a:pPr>
            <a:r>
              <a:rPr lang="en-IN" sz="2500" dirty="0" err="1"/>
              <a:t>Components:ALU</a:t>
            </a:r>
            <a:r>
              <a:rPr lang="en-IN" sz="2500" dirty="0"/>
              <a:t> Block – performs the </a:t>
            </a:r>
            <a:r>
              <a:rPr lang="en-IN" sz="2500" dirty="0" err="1"/>
              <a:t>computation.RAM</a:t>
            </a:r>
            <a:r>
              <a:rPr lang="en-IN" sz="2500" dirty="0"/>
              <a:t> Block – holds data operands and stores </a:t>
            </a:r>
            <a:r>
              <a:rPr lang="en-IN" sz="2500" dirty="0" err="1"/>
              <a:t>output.Inputs:clk</a:t>
            </a:r>
            <a:r>
              <a:rPr lang="en-IN" sz="2500" dirty="0"/>
              <a:t>, reset, opcode, </a:t>
            </a:r>
            <a:r>
              <a:rPr lang="en-IN" sz="2500" dirty="0" err="1"/>
              <a:t>addr_a</a:t>
            </a:r>
            <a:r>
              <a:rPr lang="en-IN" sz="2500" dirty="0"/>
              <a:t>, </a:t>
            </a:r>
            <a:r>
              <a:rPr lang="en-IN" sz="2500" dirty="0" err="1"/>
              <a:t>addr_b</a:t>
            </a:r>
            <a:r>
              <a:rPr lang="en-IN" sz="2500" dirty="0"/>
              <a:t>, </a:t>
            </a:r>
            <a:r>
              <a:rPr lang="en-IN" sz="2500" dirty="0" err="1"/>
              <a:t>addr_result</a:t>
            </a:r>
            <a:r>
              <a:rPr lang="en-IN" sz="2500" dirty="0"/>
              <a:t>.</a:t>
            </a:r>
          </a:p>
          <a:p>
            <a:pPr marL="342900" indent="-342900">
              <a:buFont typeface="Arial" panose="020B0604020202020204" pitchFamily="34" charset="0"/>
              <a:buChar char="•"/>
            </a:pPr>
            <a:r>
              <a:rPr lang="en-IN" sz="2500" dirty="0"/>
              <a:t>Control </a:t>
            </a:r>
            <a:r>
              <a:rPr lang="en-IN" sz="2500" dirty="0" err="1"/>
              <a:t>Logic:Reads</a:t>
            </a:r>
            <a:r>
              <a:rPr lang="en-IN" sz="2500" dirty="0"/>
              <a:t> A and B from RAM at </a:t>
            </a:r>
            <a:r>
              <a:rPr lang="en-IN" sz="2500" dirty="0" err="1"/>
              <a:t>addr_a</a:t>
            </a:r>
            <a:r>
              <a:rPr lang="en-IN" sz="2500" dirty="0"/>
              <a:t>, </a:t>
            </a:r>
            <a:r>
              <a:rPr lang="en-IN" sz="2500" dirty="0" err="1"/>
              <a:t>addr_b.Passes</a:t>
            </a:r>
            <a:r>
              <a:rPr lang="en-IN" sz="2500" dirty="0"/>
              <a:t> them to ALU with </a:t>
            </a:r>
            <a:r>
              <a:rPr lang="en-IN" sz="2500" dirty="0" err="1"/>
              <a:t>opcode.Stores</a:t>
            </a:r>
            <a:r>
              <a:rPr lang="en-IN" sz="2500" dirty="0"/>
              <a:t> </a:t>
            </a:r>
            <a:r>
              <a:rPr lang="en-IN" sz="2500" dirty="0" err="1"/>
              <a:t>ALU_Result</a:t>
            </a:r>
            <a:r>
              <a:rPr lang="en-IN" sz="2500" dirty="0"/>
              <a:t> in RAM at </a:t>
            </a:r>
            <a:r>
              <a:rPr lang="en-IN" sz="2500" dirty="0" err="1"/>
              <a:t>addr_result</a:t>
            </a:r>
            <a:r>
              <a:rPr lang="en-IN" sz="2500" dirty="0"/>
              <a:t>.</a:t>
            </a:r>
          </a:p>
          <a:p>
            <a:pPr marL="342900" indent="-342900">
              <a:buFont typeface="Arial" panose="020B0604020202020204" pitchFamily="34" charset="0"/>
              <a:buChar char="•"/>
            </a:pPr>
            <a:r>
              <a:rPr lang="en-IN" sz="2500" dirty="0"/>
              <a:t>Outputs: done, Zero, </a:t>
            </a:r>
            <a:r>
              <a:rPr lang="en-IN" sz="2500" dirty="0" err="1"/>
              <a:t>CarryOut</a:t>
            </a:r>
            <a:r>
              <a:rPr lang="en-IN" sz="2500" dirty="0"/>
              <a:t>, optional output bus for verification.</a:t>
            </a:r>
          </a:p>
        </p:txBody>
      </p:sp>
    </p:spTree>
    <p:extLst>
      <p:ext uri="{BB962C8B-B14F-4D97-AF65-F5344CB8AC3E}">
        <p14:creationId xmlns:p14="http://schemas.microsoft.com/office/powerpoint/2010/main" val="19351809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88652E-6373-85E7-AC50-FA40FA483AC9}"/>
              </a:ext>
            </a:extLst>
          </p:cNvPr>
          <p:cNvSpPr txBox="1"/>
          <p:nvPr/>
        </p:nvSpPr>
        <p:spPr>
          <a:xfrm>
            <a:off x="1504709" y="1203767"/>
            <a:ext cx="2849947" cy="600164"/>
          </a:xfrm>
          <a:prstGeom prst="rect">
            <a:avLst/>
          </a:prstGeom>
          <a:noFill/>
        </p:spPr>
        <p:txBody>
          <a:bodyPr wrap="none" rtlCol="0">
            <a:spAutoFit/>
          </a:bodyPr>
          <a:lstStyle/>
          <a:p>
            <a:r>
              <a:rPr lang="en-IN" sz="3300" dirty="0"/>
              <a:t>Testbench Code</a:t>
            </a:r>
          </a:p>
        </p:txBody>
      </p:sp>
      <p:sp>
        <p:nvSpPr>
          <p:cNvPr id="4" name="TextBox 3">
            <a:extLst>
              <a:ext uri="{FF2B5EF4-FFF2-40B4-BE49-F238E27FC236}">
                <a16:creationId xmlns:a16="http://schemas.microsoft.com/office/drawing/2014/main" id="{2A1E3598-79BD-A69F-5452-EF6AA6A8CC84}"/>
              </a:ext>
            </a:extLst>
          </p:cNvPr>
          <p:cNvSpPr txBox="1"/>
          <p:nvPr/>
        </p:nvSpPr>
        <p:spPr>
          <a:xfrm>
            <a:off x="1573692" y="2280214"/>
            <a:ext cx="9642176" cy="3939540"/>
          </a:xfrm>
          <a:prstGeom prst="rect">
            <a:avLst/>
          </a:prstGeom>
          <a:noFill/>
        </p:spPr>
        <p:txBody>
          <a:bodyPr wrap="square" rtlCol="0">
            <a:spAutoFit/>
          </a:bodyPr>
          <a:lstStyle/>
          <a:p>
            <a:pPr marL="342900" indent="-342900">
              <a:buFont typeface="Arial" panose="020B0604020202020204" pitchFamily="34" charset="0"/>
              <a:buChar char="•"/>
            </a:pPr>
            <a:r>
              <a:rPr lang="en-IN" sz="2500" dirty="0"/>
              <a:t>Test Bench for 32-bit ALU + </a:t>
            </a:r>
            <a:r>
              <a:rPr lang="en-IN" sz="2500" dirty="0" err="1"/>
              <a:t>RAMPurpose</a:t>
            </a:r>
            <a:r>
              <a:rPr lang="en-IN" sz="2500" dirty="0"/>
              <a:t>: Stimulates the top module to verify ALU and RAM interaction.</a:t>
            </a:r>
          </a:p>
          <a:p>
            <a:pPr marL="342900" indent="-342900">
              <a:buFont typeface="Arial" panose="020B0604020202020204" pitchFamily="34" charset="0"/>
              <a:buChar char="•"/>
            </a:pPr>
            <a:r>
              <a:rPr lang="en-IN" sz="2500" dirty="0"/>
              <a:t>Initial </a:t>
            </a:r>
            <a:r>
              <a:rPr lang="en-IN" sz="2500" dirty="0" err="1"/>
              <a:t>Setup:Declare</a:t>
            </a:r>
            <a:r>
              <a:rPr lang="en-IN" sz="2500" dirty="0"/>
              <a:t> reg inputs and wire </a:t>
            </a:r>
            <a:r>
              <a:rPr lang="en-IN" sz="2500" dirty="0" err="1"/>
              <a:t>outputs.Instantiate</a:t>
            </a:r>
            <a:r>
              <a:rPr lang="en-IN" sz="2500" dirty="0"/>
              <a:t> top module (DUT).</a:t>
            </a:r>
          </a:p>
          <a:p>
            <a:pPr marL="342900" indent="-342900">
              <a:buFont typeface="Arial" panose="020B0604020202020204" pitchFamily="34" charset="0"/>
              <a:buChar char="•"/>
            </a:pPr>
            <a:r>
              <a:rPr lang="en-IN" sz="2500" dirty="0"/>
              <a:t>Clock </a:t>
            </a:r>
            <a:r>
              <a:rPr lang="en-IN" sz="2500" dirty="0" err="1"/>
              <a:t>Generation:Use</a:t>
            </a:r>
            <a:r>
              <a:rPr lang="en-IN" sz="2500" dirty="0"/>
              <a:t> an always #5 </a:t>
            </a:r>
            <a:r>
              <a:rPr lang="en-IN" sz="2500" dirty="0" err="1"/>
              <a:t>clk</a:t>
            </a:r>
            <a:r>
              <a:rPr lang="en-IN" sz="2500" dirty="0"/>
              <a:t> = ~</a:t>
            </a:r>
            <a:r>
              <a:rPr lang="en-IN" sz="2500" dirty="0" err="1"/>
              <a:t>clk</a:t>
            </a:r>
            <a:r>
              <a:rPr lang="en-IN" sz="2500" dirty="0"/>
              <a:t>; </a:t>
            </a:r>
            <a:r>
              <a:rPr lang="en-IN" sz="2500" dirty="0" err="1"/>
              <a:t>block.Stimulus</a:t>
            </a:r>
            <a:r>
              <a:rPr lang="en-IN" sz="2500" dirty="0"/>
              <a:t> </a:t>
            </a:r>
            <a:r>
              <a:rPr lang="en-IN" sz="2500" dirty="0" err="1"/>
              <a:t>Logic:Use</a:t>
            </a:r>
            <a:r>
              <a:rPr lang="en-IN" sz="2500" dirty="0"/>
              <a:t> initial block </a:t>
            </a:r>
            <a:r>
              <a:rPr lang="en-IN" sz="2500" dirty="0" err="1"/>
              <a:t>to:Apply</a:t>
            </a:r>
            <a:r>
              <a:rPr lang="en-IN" sz="2500" dirty="0"/>
              <a:t> reset.</a:t>
            </a:r>
          </a:p>
          <a:p>
            <a:pPr marL="342900" indent="-342900">
              <a:buFont typeface="Arial" panose="020B0604020202020204" pitchFamily="34" charset="0"/>
              <a:buChar char="•"/>
            </a:pPr>
            <a:r>
              <a:rPr lang="en-IN" sz="2500" dirty="0"/>
              <a:t>Write operands to </a:t>
            </a:r>
            <a:r>
              <a:rPr lang="en-IN" sz="2500" dirty="0" err="1"/>
              <a:t>RAM.Set</a:t>
            </a:r>
            <a:r>
              <a:rPr lang="en-IN" sz="2500" dirty="0"/>
              <a:t> opcode, </a:t>
            </a:r>
            <a:r>
              <a:rPr lang="en-IN" sz="2500" dirty="0" err="1"/>
              <a:t>addresses.Trigger</a:t>
            </a:r>
            <a:r>
              <a:rPr lang="en-IN" sz="2500" dirty="0"/>
              <a:t> computation.</a:t>
            </a:r>
          </a:p>
          <a:p>
            <a:pPr marL="342900" indent="-342900">
              <a:buFont typeface="Arial" panose="020B0604020202020204" pitchFamily="34" charset="0"/>
              <a:buChar char="•"/>
            </a:pPr>
            <a:r>
              <a:rPr lang="en-US" sz="2500" dirty="0"/>
              <a:t>Monitor </a:t>
            </a:r>
            <a:r>
              <a:rPr lang="en-US" sz="2500" dirty="0" err="1"/>
              <a:t>Results:Use</a:t>
            </a:r>
            <a:r>
              <a:rPr lang="en-US" sz="2500" dirty="0"/>
              <a:t> $display or $monitor to show ALU result and </a:t>
            </a:r>
            <a:r>
              <a:rPr lang="en-US" sz="2500" dirty="0" err="1"/>
              <a:t>flags.Compare</a:t>
            </a:r>
            <a:r>
              <a:rPr lang="en-US" sz="2500" dirty="0"/>
              <a:t> expected vs actual output.</a:t>
            </a:r>
            <a:endParaRPr lang="en-IN" sz="2500" dirty="0"/>
          </a:p>
          <a:p>
            <a:pPr marL="342900" indent="-342900">
              <a:buFont typeface="Arial" panose="020B0604020202020204" pitchFamily="34" charset="0"/>
              <a:buChar char="•"/>
            </a:pPr>
            <a:endParaRPr lang="en-IN" sz="2500" dirty="0"/>
          </a:p>
        </p:txBody>
      </p:sp>
    </p:spTree>
    <p:extLst>
      <p:ext uri="{BB962C8B-B14F-4D97-AF65-F5344CB8AC3E}">
        <p14:creationId xmlns:p14="http://schemas.microsoft.com/office/powerpoint/2010/main" val="40457538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969675-025B-CFFF-8A07-D1E1CF5335BE}"/>
              </a:ext>
            </a:extLst>
          </p:cNvPr>
          <p:cNvSpPr txBox="1"/>
          <p:nvPr/>
        </p:nvSpPr>
        <p:spPr>
          <a:xfrm>
            <a:off x="1620456" y="1064871"/>
            <a:ext cx="3948517" cy="553998"/>
          </a:xfrm>
          <a:prstGeom prst="rect">
            <a:avLst/>
          </a:prstGeom>
          <a:noFill/>
        </p:spPr>
        <p:txBody>
          <a:bodyPr wrap="none" rtlCol="0">
            <a:spAutoFit/>
          </a:bodyPr>
          <a:lstStyle/>
          <a:p>
            <a:r>
              <a:rPr lang="en-IN" sz="3000" b="1" dirty="0"/>
              <a:t>Practical Applications</a:t>
            </a:r>
            <a:r>
              <a:rPr lang="en-IN" sz="3000" dirty="0"/>
              <a:t>: </a:t>
            </a:r>
          </a:p>
        </p:txBody>
      </p:sp>
      <p:sp>
        <p:nvSpPr>
          <p:cNvPr id="3" name="TextBox 2">
            <a:extLst>
              <a:ext uri="{FF2B5EF4-FFF2-40B4-BE49-F238E27FC236}">
                <a16:creationId xmlns:a16="http://schemas.microsoft.com/office/drawing/2014/main" id="{D9241731-809A-98E1-CEE3-689660270597}"/>
              </a:ext>
            </a:extLst>
          </p:cNvPr>
          <p:cNvSpPr txBox="1"/>
          <p:nvPr/>
        </p:nvSpPr>
        <p:spPr>
          <a:xfrm>
            <a:off x="2743200" y="2176041"/>
            <a:ext cx="6829063" cy="4154984"/>
          </a:xfrm>
          <a:prstGeom prst="rect">
            <a:avLst/>
          </a:prstGeom>
          <a:noFill/>
        </p:spPr>
        <p:txBody>
          <a:bodyPr wrap="square" rtlCol="0">
            <a:spAutoFit/>
          </a:bodyPr>
          <a:lstStyle/>
          <a:p>
            <a:pPr marL="342900" indent="-342900">
              <a:buFont typeface="Arial" panose="020B0604020202020204" pitchFamily="34" charset="0"/>
              <a:buChar char="•"/>
            </a:pPr>
            <a:r>
              <a:rPr lang="en-US" sz="2200" dirty="0">
                <a:solidFill>
                  <a:srgbClr val="272525"/>
                </a:solidFill>
                <a:latin typeface="Inter" pitchFamily="34" charset="0"/>
                <a:ea typeface="Inter" pitchFamily="34" charset="-122"/>
                <a:cs typeface="Inter" pitchFamily="34" charset="-120"/>
              </a:rPr>
              <a:t>Used in </a:t>
            </a:r>
            <a:r>
              <a:rPr lang="en-US" sz="2200" b="1" dirty="0">
                <a:solidFill>
                  <a:srgbClr val="272525"/>
                </a:solidFill>
                <a:latin typeface="Inter" pitchFamily="34" charset="0"/>
                <a:ea typeface="Inter" pitchFamily="34" charset="-122"/>
                <a:cs typeface="Inter" pitchFamily="34" charset="-120"/>
              </a:rPr>
              <a:t>embedded systems</a:t>
            </a:r>
            <a:r>
              <a:rPr lang="en-US" sz="2200" dirty="0">
                <a:solidFill>
                  <a:srgbClr val="272525"/>
                </a:solidFill>
                <a:latin typeface="Inter" pitchFamily="34" charset="0"/>
                <a:ea typeface="Inter" pitchFamily="34" charset="-122"/>
                <a:cs typeface="Inter" pitchFamily="34" charset="-120"/>
              </a:rPr>
              <a:t> and </a:t>
            </a:r>
            <a:r>
              <a:rPr lang="en-US" sz="2200" b="1" dirty="0">
                <a:solidFill>
                  <a:srgbClr val="272525"/>
                </a:solidFill>
                <a:latin typeface="Inter" pitchFamily="34" charset="0"/>
                <a:ea typeface="Inter" pitchFamily="34" charset="-122"/>
                <a:cs typeface="Inter" pitchFamily="34" charset="-120"/>
              </a:rPr>
              <a:t>microcontrollers.</a:t>
            </a:r>
          </a:p>
          <a:p>
            <a:endParaRPr lang="en-US" sz="2200" dirty="0"/>
          </a:p>
          <a:p>
            <a:pPr marL="342900" indent="-342900">
              <a:buFont typeface="Arial" panose="020B0604020202020204" pitchFamily="34" charset="0"/>
              <a:buChar char="•"/>
            </a:pPr>
            <a:r>
              <a:rPr lang="en-US" sz="2200" dirty="0">
                <a:solidFill>
                  <a:srgbClr val="272525"/>
                </a:solidFill>
                <a:latin typeface="Inter" pitchFamily="34" charset="0"/>
                <a:ea typeface="Inter" pitchFamily="34" charset="-122"/>
                <a:cs typeface="Inter" pitchFamily="34" charset="-120"/>
              </a:rPr>
              <a:t>Helps in </a:t>
            </a:r>
            <a:r>
              <a:rPr lang="en-US" sz="2200" b="1" dirty="0">
                <a:solidFill>
                  <a:srgbClr val="272525"/>
                </a:solidFill>
                <a:latin typeface="Inter" pitchFamily="34" charset="0"/>
                <a:ea typeface="Inter" pitchFamily="34" charset="-122"/>
                <a:cs typeface="Inter" pitchFamily="34" charset="-120"/>
              </a:rPr>
              <a:t>teaching computer architecture</a:t>
            </a:r>
            <a:r>
              <a:rPr lang="en-US" sz="2200" dirty="0">
                <a:solidFill>
                  <a:srgbClr val="272525"/>
                </a:solidFill>
                <a:latin typeface="Inter" pitchFamily="34" charset="0"/>
                <a:ea typeface="Inter" pitchFamily="34" charset="-122"/>
                <a:cs typeface="Inter" pitchFamily="34" charset="-120"/>
              </a:rPr>
              <a:t> concepts.</a:t>
            </a:r>
          </a:p>
          <a:p>
            <a:endParaRPr lang="en-US" sz="2200" dirty="0"/>
          </a:p>
          <a:p>
            <a:pPr marL="342900" indent="-342900">
              <a:buFont typeface="Arial" panose="020B0604020202020204" pitchFamily="34" charset="0"/>
              <a:buChar char="•"/>
            </a:pPr>
            <a:r>
              <a:rPr lang="en-US" sz="2200" dirty="0">
                <a:solidFill>
                  <a:srgbClr val="272525"/>
                </a:solidFill>
                <a:latin typeface="Inter" pitchFamily="34" charset="0"/>
                <a:ea typeface="Inter" pitchFamily="34" charset="-122"/>
                <a:cs typeface="Inter" pitchFamily="34" charset="-120"/>
              </a:rPr>
              <a:t>Useful for </a:t>
            </a:r>
            <a:r>
              <a:rPr lang="en-US" sz="2200" b="1" dirty="0">
                <a:solidFill>
                  <a:srgbClr val="272525"/>
                </a:solidFill>
                <a:latin typeface="Inter" pitchFamily="34" charset="0"/>
                <a:ea typeface="Inter" pitchFamily="34" charset="-122"/>
                <a:cs typeface="Inter" pitchFamily="34" charset="-120"/>
              </a:rPr>
              <a:t>FPGA-based processor prototyping.</a:t>
            </a:r>
          </a:p>
          <a:p>
            <a:endParaRPr lang="en-US" sz="2200" dirty="0"/>
          </a:p>
          <a:p>
            <a:pPr marL="342900" indent="-342900">
              <a:buFont typeface="Arial" panose="020B0604020202020204" pitchFamily="34" charset="0"/>
              <a:buChar char="•"/>
            </a:pPr>
            <a:r>
              <a:rPr lang="en-US" sz="2200" dirty="0">
                <a:solidFill>
                  <a:srgbClr val="272525"/>
                </a:solidFill>
                <a:latin typeface="Inter" pitchFamily="34" charset="0"/>
                <a:ea typeface="Inter" pitchFamily="34" charset="-122"/>
                <a:cs typeface="Inter" pitchFamily="34" charset="-120"/>
              </a:rPr>
              <a:t>Applied in </a:t>
            </a:r>
            <a:r>
              <a:rPr lang="en-US" sz="2200" b="1" dirty="0">
                <a:solidFill>
                  <a:srgbClr val="272525"/>
                </a:solidFill>
                <a:latin typeface="Inter" pitchFamily="34" charset="0"/>
                <a:ea typeface="Inter" pitchFamily="34" charset="-122"/>
                <a:cs typeface="Inter" pitchFamily="34" charset="-120"/>
              </a:rPr>
              <a:t>Digital Signal Processing (DSP)</a:t>
            </a:r>
            <a:r>
              <a:rPr lang="en-US" sz="2200" dirty="0">
                <a:solidFill>
                  <a:srgbClr val="272525"/>
                </a:solidFill>
                <a:latin typeface="Inter" pitchFamily="34" charset="0"/>
                <a:ea typeface="Inter" pitchFamily="34" charset="-122"/>
                <a:cs typeface="Inter" pitchFamily="34" charset="-120"/>
              </a:rPr>
              <a:t> tasks.</a:t>
            </a:r>
          </a:p>
          <a:p>
            <a:endParaRPr lang="en-US" sz="2200" dirty="0"/>
          </a:p>
          <a:p>
            <a:pPr marL="342900" indent="-342900">
              <a:buFont typeface="Arial" panose="020B0604020202020204" pitchFamily="34" charset="0"/>
              <a:buChar char="•"/>
            </a:pPr>
            <a:r>
              <a:rPr lang="en-US" sz="2200" dirty="0">
                <a:solidFill>
                  <a:srgbClr val="272525"/>
                </a:solidFill>
                <a:latin typeface="Inter" pitchFamily="34" charset="0"/>
                <a:ea typeface="Inter" pitchFamily="34" charset="-122"/>
                <a:cs typeface="Inter" pitchFamily="34" charset="-120"/>
              </a:rPr>
              <a:t>Suitable for </a:t>
            </a:r>
            <a:r>
              <a:rPr lang="en-US" sz="2200" b="1" dirty="0">
                <a:solidFill>
                  <a:srgbClr val="272525"/>
                </a:solidFill>
                <a:latin typeface="Inter" pitchFamily="34" charset="0"/>
                <a:ea typeface="Inter" pitchFamily="34" charset="-122"/>
                <a:cs typeface="Inter" pitchFamily="34" charset="-120"/>
              </a:rPr>
              <a:t>simulation and testing</a:t>
            </a:r>
            <a:r>
              <a:rPr lang="en-US" sz="2200" dirty="0">
                <a:solidFill>
                  <a:srgbClr val="272525"/>
                </a:solidFill>
                <a:latin typeface="Inter" pitchFamily="34" charset="0"/>
                <a:ea typeface="Inter" pitchFamily="34" charset="-122"/>
                <a:cs typeface="Inter" pitchFamily="34" charset="-120"/>
              </a:rPr>
              <a:t> of logic operations.</a:t>
            </a:r>
          </a:p>
          <a:p>
            <a:endParaRPr lang="en-US" sz="2200" dirty="0"/>
          </a:p>
          <a:p>
            <a:pPr marL="342900" indent="-342900">
              <a:buFont typeface="Arial" panose="020B0604020202020204" pitchFamily="34" charset="0"/>
              <a:buChar char="•"/>
            </a:pPr>
            <a:r>
              <a:rPr lang="en-US" sz="2200" dirty="0">
                <a:solidFill>
                  <a:srgbClr val="272525"/>
                </a:solidFill>
                <a:latin typeface="Inter" pitchFamily="34" charset="0"/>
                <a:ea typeface="Inter" pitchFamily="34" charset="-122"/>
                <a:cs typeface="Inter" pitchFamily="34" charset="-120"/>
              </a:rPr>
              <a:t>Can be part of </a:t>
            </a:r>
            <a:r>
              <a:rPr lang="en-US" sz="2200" b="1" dirty="0">
                <a:solidFill>
                  <a:srgbClr val="272525"/>
                </a:solidFill>
                <a:latin typeface="Inter" pitchFamily="34" charset="0"/>
                <a:ea typeface="Inter" pitchFamily="34" charset="-122"/>
                <a:cs typeface="Inter" pitchFamily="34" charset="-120"/>
              </a:rPr>
              <a:t>custom ASIC designs</a:t>
            </a:r>
            <a:r>
              <a:rPr lang="en-US" sz="2200" dirty="0">
                <a:solidFill>
                  <a:srgbClr val="272525"/>
                </a:solidFill>
                <a:latin typeface="Inter" pitchFamily="34" charset="0"/>
                <a:ea typeface="Inter" pitchFamily="34" charset="-122"/>
                <a:cs typeface="Inter" pitchFamily="34" charset="-120"/>
              </a:rPr>
              <a:t> in VLSI projects.</a:t>
            </a:r>
            <a:endParaRPr lang="en-US" sz="2200" dirty="0"/>
          </a:p>
          <a:p>
            <a:endParaRPr lang="en-IN" sz="2200" dirty="0"/>
          </a:p>
        </p:txBody>
      </p:sp>
    </p:spTree>
    <p:extLst>
      <p:ext uri="{BB962C8B-B14F-4D97-AF65-F5344CB8AC3E}">
        <p14:creationId xmlns:p14="http://schemas.microsoft.com/office/powerpoint/2010/main" val="37371374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E9D990-4138-4492-097E-A03AE02915CF}"/>
              </a:ext>
            </a:extLst>
          </p:cNvPr>
          <p:cNvSpPr txBox="1"/>
          <p:nvPr/>
        </p:nvSpPr>
        <p:spPr>
          <a:xfrm>
            <a:off x="1412111" y="1331089"/>
            <a:ext cx="3078693" cy="600164"/>
          </a:xfrm>
          <a:prstGeom prst="rect">
            <a:avLst/>
          </a:prstGeom>
          <a:noFill/>
        </p:spPr>
        <p:txBody>
          <a:bodyPr wrap="square" rtlCol="0">
            <a:spAutoFit/>
          </a:bodyPr>
          <a:lstStyle/>
          <a:p>
            <a:r>
              <a:rPr lang="en-IN" sz="3300" b="1" dirty="0"/>
              <a:t>Advantages:</a:t>
            </a:r>
          </a:p>
        </p:txBody>
      </p:sp>
      <p:sp>
        <p:nvSpPr>
          <p:cNvPr id="3" name="TextBox 2">
            <a:extLst>
              <a:ext uri="{FF2B5EF4-FFF2-40B4-BE49-F238E27FC236}">
                <a16:creationId xmlns:a16="http://schemas.microsoft.com/office/drawing/2014/main" id="{C12966D1-6234-A60A-93FF-046B0BF7A041}"/>
              </a:ext>
            </a:extLst>
          </p:cNvPr>
          <p:cNvSpPr txBox="1"/>
          <p:nvPr/>
        </p:nvSpPr>
        <p:spPr>
          <a:xfrm>
            <a:off x="2129742" y="2384385"/>
            <a:ext cx="9127435" cy="2677656"/>
          </a:xfrm>
          <a:prstGeom prst="rect">
            <a:avLst/>
          </a:prstGeom>
          <a:noFill/>
        </p:spPr>
        <p:txBody>
          <a:bodyPr wrap="square" rtlCol="0">
            <a:spAutoFit/>
          </a:bodyPr>
          <a:lstStyle/>
          <a:p>
            <a:pPr marL="285750" indent="-285750">
              <a:buFont typeface="Arial" panose="020B0604020202020204" pitchFamily="34" charset="0"/>
              <a:buChar char="•"/>
            </a:pPr>
            <a:r>
              <a:rPr lang="en-US" sz="2500" dirty="0">
                <a:solidFill>
                  <a:srgbClr val="272525"/>
                </a:solidFill>
                <a:latin typeface="Inter" pitchFamily="34" charset="0"/>
                <a:ea typeface="Inter" pitchFamily="34" charset="-122"/>
                <a:cs typeface="Inter" pitchFamily="34" charset="-120"/>
              </a:rPr>
              <a:t>Performs multiple </a:t>
            </a:r>
            <a:r>
              <a:rPr lang="en-US" sz="2500" b="1" dirty="0">
                <a:solidFill>
                  <a:srgbClr val="272525"/>
                </a:solidFill>
                <a:latin typeface="Inter" pitchFamily="34" charset="0"/>
                <a:ea typeface="Inter" pitchFamily="34" charset="-122"/>
                <a:cs typeface="Inter" pitchFamily="34" charset="-120"/>
              </a:rPr>
              <a:t>arithmetic and logic operations</a:t>
            </a:r>
            <a:r>
              <a:rPr lang="en-US" sz="2500" dirty="0">
                <a:solidFill>
                  <a:srgbClr val="272525"/>
                </a:solidFill>
                <a:latin typeface="Inter" pitchFamily="34" charset="0"/>
                <a:ea typeface="Inter" pitchFamily="34" charset="-122"/>
                <a:cs typeface="Inter" pitchFamily="34" charset="-120"/>
              </a:rPr>
              <a:t> efficiently</a:t>
            </a:r>
            <a:endParaRPr lang="en-US" sz="2500" dirty="0"/>
          </a:p>
          <a:p>
            <a:pPr marL="285750" indent="-285750">
              <a:buFont typeface="Arial" panose="020B0604020202020204" pitchFamily="34" charset="0"/>
              <a:buChar char="•"/>
            </a:pPr>
            <a:r>
              <a:rPr lang="en-US" sz="2500" b="1" dirty="0">
                <a:solidFill>
                  <a:srgbClr val="272525"/>
                </a:solidFill>
                <a:latin typeface="Inter" pitchFamily="34" charset="0"/>
                <a:ea typeface="Inter" pitchFamily="34" charset="-122"/>
                <a:cs typeface="Inter" pitchFamily="34" charset="-120"/>
              </a:rPr>
              <a:t>Integrated RAM</a:t>
            </a:r>
            <a:r>
              <a:rPr lang="en-US" sz="2500" dirty="0">
                <a:solidFill>
                  <a:srgbClr val="272525"/>
                </a:solidFill>
                <a:latin typeface="Inter" pitchFamily="34" charset="0"/>
                <a:ea typeface="Inter" pitchFamily="34" charset="-122"/>
                <a:cs typeface="Inter" pitchFamily="34" charset="-120"/>
              </a:rPr>
              <a:t> allows direct data access and storage</a:t>
            </a:r>
            <a:endParaRPr lang="en-US" sz="2500" dirty="0"/>
          </a:p>
          <a:p>
            <a:pPr marL="285750" indent="-285750">
              <a:buFont typeface="Arial" panose="020B0604020202020204" pitchFamily="34" charset="0"/>
              <a:buChar char="•"/>
            </a:pPr>
            <a:r>
              <a:rPr lang="en-US" sz="2500" b="1" dirty="0">
                <a:solidFill>
                  <a:srgbClr val="272525"/>
                </a:solidFill>
                <a:latin typeface="Inter" pitchFamily="34" charset="0"/>
                <a:ea typeface="Inter" pitchFamily="34" charset="-122"/>
                <a:cs typeface="Inter" pitchFamily="34" charset="-120"/>
              </a:rPr>
              <a:t>Modular design</a:t>
            </a:r>
            <a:r>
              <a:rPr lang="en-US" sz="2500" dirty="0">
                <a:solidFill>
                  <a:srgbClr val="272525"/>
                </a:solidFill>
                <a:latin typeface="Inter" pitchFamily="34" charset="0"/>
                <a:ea typeface="Inter" pitchFamily="34" charset="-122"/>
                <a:cs typeface="Inter" pitchFamily="34" charset="-120"/>
              </a:rPr>
              <a:t> – easy to expand or modify</a:t>
            </a:r>
            <a:endParaRPr lang="en-US" sz="2500" dirty="0"/>
          </a:p>
          <a:p>
            <a:pPr marL="285750" indent="-285750">
              <a:buFont typeface="Arial" panose="020B0604020202020204" pitchFamily="34" charset="0"/>
              <a:buChar char="•"/>
            </a:pPr>
            <a:r>
              <a:rPr lang="en-US" sz="2500" dirty="0">
                <a:solidFill>
                  <a:srgbClr val="272525"/>
                </a:solidFill>
                <a:latin typeface="Inter" pitchFamily="34" charset="0"/>
                <a:ea typeface="Inter" pitchFamily="34" charset="-122"/>
                <a:cs typeface="Inter" pitchFamily="34" charset="-120"/>
              </a:rPr>
              <a:t>Useful for </a:t>
            </a:r>
            <a:r>
              <a:rPr lang="en-US" sz="2500" b="1" dirty="0">
                <a:solidFill>
                  <a:srgbClr val="272525"/>
                </a:solidFill>
                <a:latin typeface="Inter" pitchFamily="34" charset="0"/>
                <a:ea typeface="Inter" pitchFamily="34" charset="-122"/>
                <a:cs typeface="Inter" pitchFamily="34" charset="-120"/>
              </a:rPr>
              <a:t>learning and simulation</a:t>
            </a:r>
            <a:r>
              <a:rPr lang="en-US" sz="2500" dirty="0">
                <a:solidFill>
                  <a:srgbClr val="272525"/>
                </a:solidFill>
                <a:latin typeface="Inter" pitchFamily="34" charset="0"/>
                <a:ea typeface="Inter" pitchFamily="34" charset="-122"/>
                <a:cs typeface="Inter" pitchFamily="34" charset="-120"/>
              </a:rPr>
              <a:t> in tools like </a:t>
            </a:r>
            <a:r>
              <a:rPr lang="en-US" sz="2500" dirty="0" err="1">
                <a:solidFill>
                  <a:srgbClr val="272525"/>
                </a:solidFill>
                <a:latin typeface="Inter" pitchFamily="34" charset="0"/>
                <a:ea typeface="Inter" pitchFamily="34" charset="-122"/>
                <a:cs typeface="Inter" pitchFamily="34" charset="-120"/>
              </a:rPr>
              <a:t>Vivado</a:t>
            </a:r>
            <a:endParaRPr lang="en-US" sz="2500" dirty="0"/>
          </a:p>
          <a:p>
            <a:pPr marL="285750" indent="-285750">
              <a:buFont typeface="Arial" panose="020B0604020202020204" pitchFamily="34" charset="0"/>
              <a:buChar char="•"/>
            </a:pPr>
            <a:r>
              <a:rPr lang="en-US" sz="2500" dirty="0">
                <a:solidFill>
                  <a:srgbClr val="272525"/>
                </a:solidFill>
                <a:latin typeface="Inter" pitchFamily="34" charset="0"/>
                <a:ea typeface="Inter" pitchFamily="34" charset="-122"/>
                <a:cs typeface="Inter" pitchFamily="34" charset="-120"/>
              </a:rPr>
              <a:t>Demonstrates </a:t>
            </a:r>
            <a:r>
              <a:rPr lang="en-US" sz="2500" b="1" dirty="0">
                <a:solidFill>
                  <a:srgbClr val="272525"/>
                </a:solidFill>
                <a:latin typeface="Inter" pitchFamily="34" charset="0"/>
                <a:ea typeface="Inter" pitchFamily="34" charset="-122"/>
                <a:cs typeface="Inter" pitchFamily="34" charset="-120"/>
              </a:rPr>
              <a:t>real-world processor functionality</a:t>
            </a:r>
            <a:endParaRPr lang="en-US" sz="2500" dirty="0"/>
          </a:p>
          <a:p>
            <a:pPr marL="285750" indent="-285750">
              <a:buFont typeface="Arial" panose="020B0604020202020204" pitchFamily="34" charset="0"/>
              <a:buChar char="•"/>
            </a:pPr>
            <a:r>
              <a:rPr lang="en-US" sz="2500" dirty="0">
                <a:solidFill>
                  <a:srgbClr val="272525"/>
                </a:solidFill>
                <a:latin typeface="Inter" pitchFamily="34" charset="0"/>
                <a:ea typeface="Inter" pitchFamily="34" charset="-122"/>
                <a:cs typeface="Inter" pitchFamily="34" charset="-120"/>
              </a:rPr>
              <a:t>Promotes understanding of </a:t>
            </a:r>
            <a:r>
              <a:rPr lang="en-US" sz="2500" b="1" dirty="0">
                <a:solidFill>
                  <a:srgbClr val="272525"/>
                </a:solidFill>
                <a:latin typeface="Inter" pitchFamily="34" charset="0"/>
                <a:ea typeface="Inter" pitchFamily="34" charset="-122"/>
                <a:cs typeface="Inter" pitchFamily="34" charset="-120"/>
              </a:rPr>
              <a:t>hardware-software interaction</a:t>
            </a:r>
            <a:endParaRPr lang="en-US" sz="2500" dirty="0"/>
          </a:p>
          <a:p>
            <a:endParaRPr lang="en-IN" dirty="0"/>
          </a:p>
        </p:txBody>
      </p:sp>
    </p:spTree>
    <p:extLst>
      <p:ext uri="{BB962C8B-B14F-4D97-AF65-F5344CB8AC3E}">
        <p14:creationId xmlns:p14="http://schemas.microsoft.com/office/powerpoint/2010/main" val="6027039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76E4AE-47CA-770F-9A0D-C7658939EBFB}"/>
              </a:ext>
            </a:extLst>
          </p:cNvPr>
          <p:cNvSpPr txBox="1"/>
          <p:nvPr/>
        </p:nvSpPr>
        <p:spPr>
          <a:xfrm>
            <a:off x="4872942" y="902827"/>
            <a:ext cx="2227927" cy="600164"/>
          </a:xfrm>
          <a:prstGeom prst="rect">
            <a:avLst/>
          </a:prstGeom>
          <a:noFill/>
        </p:spPr>
        <p:txBody>
          <a:bodyPr wrap="square" rtlCol="0">
            <a:spAutoFit/>
          </a:bodyPr>
          <a:lstStyle/>
          <a:p>
            <a:r>
              <a:rPr lang="en-IN" sz="3300" b="1" i="1" dirty="0"/>
              <a:t>Summary</a:t>
            </a:r>
          </a:p>
        </p:txBody>
      </p:sp>
      <p:sp>
        <p:nvSpPr>
          <p:cNvPr id="4" name="TextBox 3">
            <a:extLst>
              <a:ext uri="{FF2B5EF4-FFF2-40B4-BE49-F238E27FC236}">
                <a16:creationId xmlns:a16="http://schemas.microsoft.com/office/drawing/2014/main" id="{B22766D4-6656-1A93-88E8-0EEB207E3192}"/>
              </a:ext>
            </a:extLst>
          </p:cNvPr>
          <p:cNvSpPr txBox="1"/>
          <p:nvPr/>
        </p:nvSpPr>
        <p:spPr>
          <a:xfrm>
            <a:off x="810228" y="1967697"/>
            <a:ext cx="10648710" cy="3741281"/>
          </a:xfrm>
          <a:prstGeom prst="rect">
            <a:avLst/>
          </a:prstGeom>
          <a:noFill/>
        </p:spPr>
        <p:txBody>
          <a:bodyPr wrap="square" rtlCol="0">
            <a:spAutoFit/>
          </a:bodyPr>
          <a:lstStyle/>
          <a:p>
            <a:pPr marL="0" indent="0" algn="ctr">
              <a:lnSpc>
                <a:spcPts val="3550"/>
              </a:lnSpc>
              <a:buNone/>
            </a:pPr>
            <a:r>
              <a:rPr lang="en-US" sz="2000" dirty="0">
                <a:solidFill>
                  <a:srgbClr val="272525"/>
                </a:solidFill>
                <a:latin typeface="Inter" pitchFamily="34" charset="0"/>
                <a:ea typeface="Inter" pitchFamily="34" charset="-122"/>
                <a:cs typeface="Inter" pitchFamily="34" charset="-120"/>
              </a:rPr>
              <a:t>This presentation explored the design and implementation of a 32-bit ALU (Arithmetic Logic Unit) integrated with RAM, using Verilog. We covered the fundamental concepts of ALUs and RAM, detailed their block diagrams, and explained their individual workings. The core of the presentation focused on the architectural overview and Verilog code for the ALU, RAM, and their top-level integration, along with the test bench explanation. Finally, we discussed the practical applications of such systems in embedded devices and education, highlighting their advantages like modularity and efficient operations, while also acknowledging current limitations such as basic operation support and lack of advanced features like pipelining.</a:t>
            </a:r>
            <a:endParaRPr lang="en-US" sz="2000" dirty="0"/>
          </a:p>
        </p:txBody>
      </p:sp>
    </p:spTree>
    <p:extLst>
      <p:ext uri="{BB962C8B-B14F-4D97-AF65-F5344CB8AC3E}">
        <p14:creationId xmlns:p14="http://schemas.microsoft.com/office/powerpoint/2010/main" val="14642929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D7335CB-3335-E020-9D73-E67D192EEB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2972" y="1331089"/>
            <a:ext cx="8414795" cy="4398380"/>
          </a:xfrm>
          <a:prstGeom prst="rect">
            <a:avLst/>
          </a:prstGeom>
        </p:spPr>
      </p:pic>
    </p:spTree>
    <p:extLst>
      <p:ext uri="{BB962C8B-B14F-4D97-AF65-F5344CB8AC3E}">
        <p14:creationId xmlns:p14="http://schemas.microsoft.com/office/powerpoint/2010/main" val="144100332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103</TotalTime>
  <Words>1157</Words>
  <Application>Microsoft Office PowerPoint</Application>
  <PresentationFormat>Widescreen</PresentationFormat>
  <Paragraphs>114</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Garamond</vt:lpstr>
      <vt:lpstr>Inter</vt:lpstr>
      <vt:lpstr>Wingdings</vt:lpstr>
      <vt:lpstr>Organic</vt:lpstr>
      <vt:lpstr>32 bit ALU With Integrated 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charishma sakhamuri</dc:creator>
  <cp:lastModifiedBy>charishma sakhamuri</cp:lastModifiedBy>
  <cp:revision>1</cp:revision>
  <dcterms:created xsi:type="dcterms:W3CDTF">2025-06-03T15:46:38Z</dcterms:created>
  <dcterms:modified xsi:type="dcterms:W3CDTF">2026-01-29T12:52:58Z</dcterms:modified>
</cp:coreProperties>
</file>